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Serie</c:v>
                </c:pt>
              </c:strCache>
            </c:strRef>
          </c:tx>
          <c:spPr>
            <a:solidFill>
              <a:srgbClr val="1F4E8C"/>
            </a:solidFill>
          </c:spPr>
          <c:cat>
            <c:strRef>
              <c:f>Sheet1!$A$2:$A$5</c:f>
              <c:strCache>
                <c:ptCount val="4"/>
                <c:pt idx="0">
                  <c:v>Ronda 1 · código actual</c:v>
                </c:pt>
                <c:pt idx="1">
                  <c:v>Ronda 2 · con DEF-01</c:v>
                </c:pt>
                <c:pt idx="2">
                  <c:v>Ronda 3 · con DEF-02</c:v>
                </c:pt>
                <c:pt idx="3">
                  <c:v>Ronda 4 · código corregido</c:v>
                </c:pt>
              </c:strCache>
            </c:strRef>
          </c:cat>
          <c:val>
            <c:numRef>
              <c:f>Sheet1!$B$2:$B$5</c:f>
              <c:numCache>
                <c:formatCode>0.0 %</c:formatCode>
                <c:ptCount val="4"/>
                <c:pt idx="0">
                  <c:v>1.0</c:v>
                </c:pt>
                <c:pt idx="1">
                  <c:v>0.7333333333333333</c:v>
                </c:pt>
                <c:pt idx="2">
                  <c:v>0.8666666666666667</c:v>
                </c:pt>
                <c:pt idx="3">
                  <c:v>1.0</c:v>
                </c:pt>
              </c:numCache>
            </c:numRef>
          </c:val>
        </c:ser>
        <c:dLbls>
          <c:numFmt formatCode="0.0 %" sourceLinked="0"/>
          <c:txPr>
            <a:bodyPr/>
            <a:lstStyle/>
            <a:p>
              <a:pPr>
                <a:defRPr sz="1400" b="1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9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9AA1AD"/>
            </a:solidFill>
          </a:ln>
        </c:sp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.12"/>
          <c:min val="0.0"/>
        </c:scaling>
        <c:delete val="0"/>
        <c:axPos val="l"/>
        <c:majorGridlines>
          <c:spPr>
            <a:ln>
              <a:solidFill>
                <a:srgbClr val="E3E6EB"/>
              </a:solidFill>
            </a:ln>
          </c:spPr>
        </c:majorGridlines>
        <c:numFmt formatCode="0 %" sourceLinked="0"/>
        <c:majorTickMark val="out"/>
        <c:minorTickMark val="none"/>
        <c:tickLblPos val="nextTo"/>
        <c:spPr>
          <a:ln>
            <a:noFill/>
          </a:ln>
        </c:spPr>
        <c:crossAx val="-2068027336"/>
        <c:crosses val="autoZero"/>
        <c:majorUnit val="0.25"/>
      </c:valAx>
    </c:plotArea>
    <c:dispBlanksAs val="gap"/>
  </c:chart>
  <c:txPr>
    <a:bodyPr/>
    <a:lstStyle/>
    <a:p>
      <a:pPr>
        <a:defRPr sz="1300">
          <a:latin typeface="Calibri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Serie</c:v>
                </c:pt>
              </c:strCache>
            </c:strRef>
          </c:tx>
          <c:spPr>
            <a:solidFill>
              <a:srgbClr val="1F4E8C"/>
            </a:solidFill>
          </c:spPr>
          <c:cat>
            <c:strRef>
              <c:f>Sheet1!$A$2:$A$5</c:f>
              <c:strCache>
                <c:ptCount val="4"/>
                <c:pt idx="0">
                  <c:v>Unitaria</c:v>
                </c:pt>
                <c:pt idx="1">
                  <c:v>Integración</c:v>
                </c:pt>
                <c:pt idx="2">
                  <c:v>Sistema</c:v>
                </c:pt>
                <c:pt idx="3">
                  <c:v>Aceptación</c:v>
                </c:pt>
              </c:strCache>
            </c:strRef>
          </c:cat>
          <c:val>
            <c:numRef>
              <c:f>Sheet1!$B$2:$B$5</c:f>
              <c:numCache>
                <c:formatCode>0</c:formatCode>
                <c:ptCount val="4"/>
                <c:pt idx="0">
                  <c:v>5</c:v>
                </c:pt>
                <c:pt idx="1">
                  <c:v>4</c:v>
                </c:pt>
                <c:pt idx="2">
                  <c:v>3</c:v>
                </c:pt>
                <c:pt idx="3">
                  <c:v>3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sz="1400" b="1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9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9AA1AD"/>
            </a:solidFill>
          </a:ln>
        </c:sp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in val="0.0"/>
        </c:scaling>
        <c:delete val="0"/>
        <c:axPos val="l"/>
        <c:majorGridlines>
          <c:spPr>
            <a:ln>
              <a:solidFill>
                <a:srgbClr val="E3E6EB"/>
              </a:solidFill>
            </a:ln>
          </c:spPr>
        </c:majorGridlines>
        <c:numFmt formatCode="0" sourceLinked="0"/>
        <c:majorTickMark val="out"/>
        <c:minorTickMark val="none"/>
        <c:tickLblPos val="nextTo"/>
        <c:spPr>
          <a:ln>
            <a:noFill/>
          </a:ln>
        </c:spPr>
        <c:crossAx val="-2068027336"/>
        <c:crosses val="autoZero"/>
        <c:majorUnit val="1.0"/>
      </c:valAx>
    </c:plotArea>
    <c:dispBlanksAs val="gap"/>
  </c:chart>
  <c:txPr>
    <a:bodyPr/>
    <a:lstStyle/>
    <a:p>
      <a:pPr>
        <a:defRPr sz="1300">
          <a:latin typeface="Calibri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Serie</c:v>
                </c:pt>
              </c:strCache>
            </c:strRef>
          </c:tx>
          <c:spPr>
            <a:solidFill>
              <a:srgbClr val="1F4E8C"/>
            </a:solidFill>
          </c:spPr>
          <c:cat>
            <c:strRef>
              <c:f>Sheet1!$A$2:$A$6</c:f>
              <c:strCache>
                <c:ptCount val="5"/>
                <c:pt idx="0">
                  <c:v>RF-01 · Registrar productos</c:v>
                </c:pt>
                <c:pt idx="1">
                  <c:v>RF-02 · Consultar existencias</c:v>
                </c:pt>
                <c:pt idx="2">
                  <c:v>RF-03 · Registrar ventas</c:v>
                </c:pt>
                <c:pt idx="3">
                  <c:v>RF-04 · Registrar entradas</c:v>
                </c:pt>
                <c:pt idx="4">
                  <c:v>RF-05 · Reporte y resurtido</c:v>
                </c:pt>
              </c:strCache>
            </c:strRef>
          </c:cat>
          <c:val>
            <c:numRef>
              <c:f>Sheet1!$B$2:$B$6</c:f>
              <c:numCache>
                <c:formatCode>0</c:formatCode>
                <c:ptCount val="5"/>
                <c:pt idx="0">
                  <c:v>5</c:v>
                </c:pt>
                <c:pt idx="1">
                  <c:v>6</c:v>
                </c:pt>
                <c:pt idx="2">
                  <c:v>7</c:v>
                </c:pt>
                <c:pt idx="3">
                  <c:v>3</c:v>
                </c:pt>
                <c:pt idx="4">
                  <c:v>2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sz="1400" b="1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9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9AA1AD"/>
            </a:solidFill>
          </a:ln>
        </c:sp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in val="0.0"/>
        </c:scaling>
        <c:delete val="0"/>
        <c:axPos val="b"/>
        <c:majorGridlines>
          <c:spPr>
            <a:ln>
              <a:solidFill>
                <a:srgbClr val="E3E6EB"/>
              </a:solidFill>
            </a:ln>
          </c:spPr>
        </c:majorGridlines>
        <c:numFmt formatCode="0" sourceLinked="0"/>
        <c:majorTickMark val="out"/>
        <c:minorTickMark val="none"/>
        <c:tickLblPos val="nextTo"/>
        <c:spPr>
          <a:ln>
            <a:noFill/>
          </a:ln>
        </c:spPr>
        <c:crossAx val="-2068027336"/>
        <c:crosses val="autoZero"/>
        <c:majorUnit val="1.0"/>
      </c:valAx>
    </c:plotArea>
    <c:dispBlanksAs val="gap"/>
  </c:chart>
  <c:txPr>
    <a:bodyPr/>
    <a:lstStyle/>
    <a:p>
      <a:pPr>
        <a:defRPr sz="1300">
          <a:latin typeface="Calibri"/>
        </a:defRPr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Serie</c:v>
                </c:pt>
              </c:strCache>
            </c:strRef>
          </c:tx>
          <c:spPr>
            <a:solidFill>
              <a:srgbClr val="1F4E8C"/>
            </a:solidFill>
          </c:spPr>
          <c:cat>
            <c:strRef>
              <c:f>Sheet1!$A$2:$A$5</c:f>
              <c:strCache>
                <c:ptCount val="4"/>
                <c:pt idx="0">
                  <c:v>Unitaria</c:v>
                </c:pt>
                <c:pt idx="1">
                  <c:v>Integración</c:v>
                </c:pt>
                <c:pt idx="2">
                  <c:v>Sistema</c:v>
                </c:pt>
                <c:pt idx="3">
                  <c:v>Aceptación</c:v>
                </c:pt>
              </c:strCache>
            </c:strRef>
          </c:cat>
          <c:val>
            <c:numRef>
              <c:f>Sheet1!$B$2:$B$5</c:f>
              <c:numCache>
                <c:formatCode>0.000 "s"</c:formatCode>
                <c:ptCount val="4"/>
                <c:pt idx="0">
                  <c:v>0.005</c:v>
                </c:pt>
                <c:pt idx="1">
                  <c:v>0.014</c:v>
                </c:pt>
                <c:pt idx="2">
                  <c:v>2.626</c:v>
                </c:pt>
                <c:pt idx="3">
                  <c:v>2.612</c:v>
                </c:pt>
              </c:numCache>
            </c:numRef>
          </c:val>
        </c:ser>
        <c:dLbls>
          <c:numFmt formatCode="0.000 &quot;s&quot;" sourceLinked="0"/>
          <c:txPr>
            <a:bodyPr/>
            <a:lstStyle/>
            <a:p>
              <a:pPr>
                <a:defRPr sz="1400" b="1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9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9AA1AD"/>
            </a:solidFill>
          </a:ln>
        </c:sp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in val="0.0"/>
        </c:scaling>
        <c:delete val="0"/>
        <c:axPos val="l"/>
        <c:majorGridlines>
          <c:spPr>
            <a:ln>
              <a:solidFill>
                <a:srgbClr val="E3E6EB"/>
              </a:solidFill>
            </a:ln>
          </c:spPr>
        </c:majorGridlines>
        <c:numFmt formatCode="0.000 &quot;s&quot;" sourceLinked="0"/>
        <c:majorTickMark val="out"/>
        <c:minorTickMark val="none"/>
        <c:tickLblPos val="nextTo"/>
        <c:spPr>
          <a:ln>
            <a:noFill/>
          </a:ln>
        </c:spPr>
        <c:crossAx val="-2068027336"/>
        <c:crosses val="autoZero"/>
      </c:valAx>
    </c:plotArea>
    <c:dispBlanksAs val="gap"/>
  </c:chart>
  <c:txPr>
    <a:bodyPr/>
    <a:lstStyle/>
    <a:p>
      <a:pPr>
        <a:defRPr sz="1300">
          <a:latin typeface="Calibri"/>
        </a:defRPr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1D2330"/>
                </a:solidFill>
                <a:latin typeface="Calibri"/>
              </a:rPr>
              <a:t>Clasificación de los casos de prueba</a:t>
            </a:r>
          </a:p>
          <a:p>
            <a:r>
              <a:rPr sz="1400">
                <a:solidFill>
                  <a:srgbClr val="5A6270"/>
                </a:solidFill>
                <a:latin typeface="Calibri"/>
              </a:rPr>
              <a:t>15 casos automatizados con PHPUnit, una carpeta por nivel en tests/</a:t>
            </a:r>
          </a:p>
        </p:txBody>
      </p:sp>
      <p:sp>
        <p:nvSpPr>
          <p:cNvPr id="3" name="Rectangle 2"/>
          <p:cNvSpPr/>
          <p:nvPr/>
        </p:nvSpPr>
        <p:spPr>
          <a:xfrm>
            <a:off x="3992727" y="1417320"/>
            <a:ext cx="4206240" cy="1005840"/>
          </a:xfrm>
          <a:prstGeom prst="rect">
            <a:avLst/>
          </a:prstGeom>
          <a:solidFill>
            <a:srgbClr val="E3F4EA"/>
          </a:solidFill>
          <a:ln w="25400">
            <a:solidFill>
              <a:srgbClr val="1F7A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73152"/>
          <a:lstStyle/>
          <a:p>
            <a:pPr algn="l"/>
            <a:r>
              <a:rPr sz="1600" b="1">
                <a:solidFill>
                  <a:srgbClr val="1F7A4D"/>
                </a:solidFill>
                <a:latin typeface="Calibri"/>
              </a:rPr>
              <a:t>Aceptación · CP-09, CP-10 y CP-15</a:t>
            </a:r>
          </a:p>
          <a:p>
            <a:pPr algn="l"/>
            <a:r>
              <a:rPr sz="1300">
                <a:solidFill>
                  <a:srgbClr val="1D2330"/>
                </a:solidFill>
                <a:latin typeface="Calibri"/>
              </a:rPr>
              <a:t>Escenarios de la cliente (Dado / Cuando / Entonces) contra el sistema en ejecución</a:t>
            </a:r>
          </a:p>
        </p:txBody>
      </p:sp>
      <p:sp>
        <p:nvSpPr>
          <p:cNvPr id="4" name="Rectangle 3"/>
          <p:cNvSpPr/>
          <p:nvPr/>
        </p:nvSpPr>
        <p:spPr>
          <a:xfrm>
            <a:off x="3169767" y="2606040"/>
            <a:ext cx="5852160" cy="1005840"/>
          </a:xfrm>
          <a:prstGeom prst="rect">
            <a:avLst/>
          </a:prstGeom>
          <a:solidFill>
            <a:srgbClr val="E8F0FB"/>
          </a:solidFill>
          <a:ln w="25400">
            <a:solidFill>
              <a:srgbClr val="1F4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73152"/>
          <a:lstStyle/>
          <a:p>
            <a:pPr algn="l"/>
            <a:r>
              <a:rPr sz="1600" b="1">
                <a:solidFill>
                  <a:srgbClr val="1F4E8C"/>
                </a:solidFill>
                <a:latin typeface="Calibri"/>
              </a:rPr>
              <a:t>Sistema · CP-07, CP-08 y CP-11</a:t>
            </a:r>
          </a:p>
          <a:p>
            <a:pPr algn="l"/>
            <a:r>
              <a:rPr sz="1300">
                <a:solidFill>
                  <a:srgbClr val="1D2330"/>
                </a:solidFill>
                <a:latin typeface="Calibri"/>
              </a:rPr>
              <a:t>Aplicación completa por HTTP: servidor php -S, API y archivo de datos</a:t>
            </a:r>
          </a:p>
        </p:txBody>
      </p:sp>
      <p:sp>
        <p:nvSpPr>
          <p:cNvPr id="5" name="Rectangle 4"/>
          <p:cNvSpPr/>
          <p:nvPr/>
        </p:nvSpPr>
        <p:spPr>
          <a:xfrm>
            <a:off x="2346807" y="3794760"/>
            <a:ext cx="7498079" cy="1005840"/>
          </a:xfrm>
          <a:prstGeom prst="rect">
            <a:avLst/>
          </a:prstGeom>
          <a:solidFill>
            <a:srgbClr val="E8F0FB"/>
          </a:solidFill>
          <a:ln w="25400">
            <a:solidFill>
              <a:srgbClr val="1F4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73152"/>
          <a:lstStyle/>
          <a:p>
            <a:pPr algn="l"/>
            <a:r>
              <a:rPr sz="1600" b="1">
                <a:solidFill>
                  <a:srgbClr val="1F4E8C"/>
                </a:solidFill>
                <a:latin typeface="Calibri"/>
              </a:rPr>
              <a:t>Integración · CP-05, CP-06, CP-13 y CP-14</a:t>
            </a:r>
          </a:p>
          <a:p>
            <a:pPr algn="l"/>
            <a:r>
              <a:rPr sz="1300">
                <a:solidFill>
                  <a:srgbClr val="1D2330"/>
                </a:solidFill>
                <a:latin typeface="Calibri"/>
              </a:rPr>
              <a:t>Inventario + RepositorioInventario + archivo JSON trabajando juntos</a:t>
            </a:r>
          </a:p>
        </p:txBody>
      </p:sp>
      <p:sp>
        <p:nvSpPr>
          <p:cNvPr id="6" name="Rectangle 5"/>
          <p:cNvSpPr/>
          <p:nvPr/>
        </p:nvSpPr>
        <p:spPr>
          <a:xfrm>
            <a:off x="1523847" y="4983480"/>
            <a:ext cx="9144000" cy="1005840"/>
          </a:xfrm>
          <a:prstGeom prst="rect">
            <a:avLst/>
          </a:prstGeom>
          <a:solidFill>
            <a:srgbClr val="F4F5F7"/>
          </a:solidFill>
          <a:ln w="25400">
            <a:solidFill>
              <a:srgbClr val="5A62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73152"/>
          <a:lstStyle/>
          <a:p>
            <a:pPr algn="l"/>
            <a:r>
              <a:rPr sz="1600" b="1">
                <a:solidFill>
                  <a:srgbClr val="5A6270"/>
                </a:solidFill>
                <a:latin typeface="Calibri"/>
              </a:rPr>
              <a:t>Unitarias · CP-01, CP-02, CP-03, CP-04 y CP-12</a:t>
            </a:r>
          </a:p>
          <a:p>
            <a:pPr algn="l"/>
            <a:r>
              <a:rPr sz="1300">
                <a:solidFill>
                  <a:srgbClr val="1D2330"/>
                </a:solidFill>
                <a:latin typeface="Calibri"/>
              </a:rPr>
              <a:t>Clases Inventario y Producto aisladas, en memoria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1D2330"/>
                </a:solidFill>
                <a:latin typeface="Calibri"/>
              </a:rPr>
              <a:t>Matriz RACI de las pruebas</a:t>
            </a:r>
          </a:p>
          <a:p>
            <a:r>
              <a:rPr sz="1400">
                <a:solidFill>
                  <a:srgbClr val="5A6270"/>
                </a:solidFill>
                <a:latin typeface="Calibri"/>
              </a:rPr>
              <a:t>Quién realiza, aprueba, es consultado o informado en cada actividad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325880"/>
          <a:ext cx="11064240" cy="43982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06240"/>
                <a:gridCol w="1371600"/>
                <a:gridCol w="1371600"/>
                <a:gridCol w="1371600"/>
                <a:gridCol w="1371600"/>
                <a:gridCol w="1371600"/>
              </a:tblGrid>
              <a:tr h="33832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Actividad</a:t>
                      </a:r>
                    </a:p>
                  </a:txBody>
                  <a:tcPr marL="54864" marR="54864" marT="27432" marB="27432" anchor="ctr">
                    <a:solidFill>
                      <a:srgbClr val="1F4E8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Emily
Gestora</a:t>
                      </a:r>
                    </a:p>
                  </a:txBody>
                  <a:tcPr marL="54864" marR="54864" marT="27432" marB="27432" anchor="ctr">
                    <a:solidFill>
                      <a:srgbClr val="1F4E8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Chuina
Analista/QA</a:t>
                      </a:r>
                    </a:p>
                  </a:txBody>
                  <a:tcPr marL="54864" marR="54864" marT="27432" marB="27432" anchor="ctr">
                    <a:solidFill>
                      <a:srgbClr val="1F4E8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Pablo
Dev/DevOps</a:t>
                      </a:r>
                    </a:p>
                  </a:txBody>
                  <a:tcPr marL="54864" marR="54864" marT="27432" marB="27432" anchor="ctr">
                    <a:solidFill>
                      <a:srgbClr val="1F4E8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Emmanuel
Diseñador</a:t>
                      </a:r>
                    </a:p>
                  </a:txBody>
                  <a:tcPr marL="54864" marR="54864" marT="27432" marB="27432" anchor="ctr">
                    <a:solidFill>
                      <a:srgbClr val="1F4E8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Ana
Cliente</a:t>
                      </a:r>
                    </a:p>
                  </a:txBody>
                  <a:tcPr marL="54864" marR="54864" marT="27432" marB="27432" anchor="ctr">
                    <a:solidFill>
                      <a:srgbClr val="1F4E8C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D2330"/>
                          </a:solidFill>
                          <a:latin typeface="Calibri"/>
                        </a:rPr>
                        <a:t>Redactar los requisitos funcionales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D2330"/>
                          </a:solidFill>
                          <a:latin typeface="Calibri"/>
                        </a:rPr>
                        <a:t>A</a:t>
                      </a:r>
                    </a:p>
                  </a:txBody>
                  <a:tcPr marL="54864" marR="54864" marT="27432" marB="27432" anchor="ctr">
                    <a:solidFill>
                      <a:srgbClr val="E3F4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D2330"/>
                          </a:solidFill>
                          <a:latin typeface="Calibri"/>
                        </a:rPr>
                        <a:t>R</a:t>
                      </a:r>
                    </a:p>
                  </a:txBody>
                  <a:tcPr marL="54864" marR="54864" marT="27432" marB="27432" anchor="ctr">
                    <a:solidFill>
                      <a:srgbClr val="E8F0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D2330"/>
                          </a:solidFill>
                          <a:latin typeface="Calibri"/>
                        </a:rPr>
                        <a:t>C</a:t>
                      </a:r>
                    </a:p>
                  </a:txBody>
                  <a:tcPr marL="54864" marR="54864" marT="27432" marB="27432" anchor="ctr"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D2330"/>
                          </a:solidFill>
                          <a:latin typeface="Calibri"/>
                        </a:rPr>
                        <a:t>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D2330"/>
                          </a:solidFill>
                          <a:latin typeface="Calibri"/>
                        </a:rPr>
                        <a:t>C</a:t>
                      </a:r>
                    </a:p>
                  </a:txBody>
                  <a:tcPr marL="54864" marR="54864" marT="27432" marB="27432" anchor="ctr">
                    <a:solidFill>
                      <a:srgbClr val="FFF4D6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D2330"/>
                          </a:solidFill>
                          <a:latin typeface="Calibri"/>
                        </a:rPr>
                        <a:t>Elaborar el plan de pruebas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D2330"/>
                          </a:solidFill>
                          <a:latin typeface="Calibri"/>
                        </a:rPr>
                        <a:t>A</a:t>
                      </a:r>
                    </a:p>
                  </a:txBody>
                  <a:tcPr marL="54864" marR="54864" marT="27432" marB="27432" anchor="ctr">
                    <a:solidFill>
                      <a:srgbClr val="E3F4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D2330"/>
                          </a:solidFill>
                          <a:latin typeface="Calibri"/>
                        </a:rPr>
                        <a:t>R</a:t>
                      </a:r>
                    </a:p>
                  </a:txBody>
                  <a:tcPr marL="54864" marR="54864" marT="27432" marB="27432" anchor="ctr">
                    <a:solidFill>
                      <a:srgbClr val="E8F0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D2330"/>
                          </a:solidFill>
                          <a:latin typeface="Calibri"/>
                        </a:rPr>
                        <a:t>C</a:t>
                      </a:r>
                    </a:p>
                  </a:txBody>
                  <a:tcPr marL="54864" marR="54864" marT="27432" marB="27432" anchor="ctr"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D2330"/>
                          </a:solidFill>
                          <a:latin typeface="Calibri"/>
                        </a:rPr>
                        <a:t>I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D2330"/>
                          </a:solidFill>
                          <a:latin typeface="Calibri"/>
                        </a:rPr>
                        <a:t>I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D2330"/>
                          </a:solidFill>
                          <a:latin typeface="Calibri"/>
                        </a:rPr>
                        <a:t>Diseñar los casos de prueba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D2330"/>
                          </a:solidFill>
                          <a:latin typeface="Calibri"/>
                        </a:rPr>
                        <a:t>A</a:t>
                      </a:r>
                    </a:p>
                  </a:txBody>
                  <a:tcPr marL="54864" marR="54864" marT="27432" marB="27432" anchor="ctr">
                    <a:solidFill>
                      <a:srgbClr val="E3F4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D2330"/>
                          </a:solidFill>
                          <a:latin typeface="Calibri"/>
                        </a:rPr>
                        <a:t>R</a:t>
                      </a:r>
                    </a:p>
                  </a:txBody>
                  <a:tcPr marL="54864" marR="54864" marT="27432" marB="27432" anchor="ctr">
                    <a:solidFill>
                      <a:srgbClr val="E8F0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D2330"/>
                          </a:solidFill>
                          <a:latin typeface="Calibri"/>
                        </a:rPr>
                        <a:t>C</a:t>
                      </a:r>
                    </a:p>
                  </a:txBody>
                  <a:tcPr marL="54864" marR="54864" marT="27432" marB="27432" anchor="ctr"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D2330"/>
                          </a:solidFill>
                          <a:latin typeface="Calibri"/>
                        </a:rPr>
                        <a:t>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D2330"/>
                          </a:solidFill>
                          <a:latin typeface="Calibri"/>
                        </a:rPr>
                        <a:t>C</a:t>
                      </a:r>
                    </a:p>
                  </a:txBody>
                  <a:tcPr marL="54864" marR="54864" marT="27432" marB="27432" anchor="ctr">
                    <a:solidFill>
                      <a:srgbClr val="FFF4D6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D2330"/>
                          </a:solidFill>
                          <a:latin typeface="Calibri"/>
                        </a:rPr>
                        <a:t>Automatizar las pruebas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D2330"/>
                          </a:solidFill>
                          <a:latin typeface="Calibri"/>
                        </a:rPr>
                        <a:t>A</a:t>
                      </a:r>
                    </a:p>
                  </a:txBody>
                  <a:tcPr marL="54864" marR="54864" marT="27432" marB="27432" anchor="ctr">
                    <a:solidFill>
                      <a:srgbClr val="E3F4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D2330"/>
                          </a:solidFill>
                          <a:latin typeface="Calibri"/>
                        </a:rPr>
                        <a:t>C</a:t>
                      </a:r>
                    </a:p>
                  </a:txBody>
                  <a:tcPr marL="54864" marR="54864" marT="27432" marB="27432" anchor="ctr"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D2330"/>
                          </a:solidFill>
                          <a:latin typeface="Calibri"/>
                        </a:rPr>
                        <a:t>R</a:t>
                      </a:r>
                    </a:p>
                  </a:txBody>
                  <a:tcPr marL="54864" marR="54864" marT="27432" marB="27432" anchor="ctr">
                    <a:solidFill>
                      <a:srgbClr val="E8F0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D2330"/>
                          </a:solidFill>
                          <a:latin typeface="Calibri"/>
                        </a:rPr>
                        <a:t>I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D2330"/>
                          </a:solidFill>
                          <a:latin typeface="Calibri"/>
                        </a:rPr>
                        <a:t>I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D2330"/>
                          </a:solidFill>
                          <a:latin typeface="Calibri"/>
                        </a:rPr>
                        <a:t>Ejecutar las pruebas y registrar resultados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D2330"/>
                          </a:solidFill>
                          <a:latin typeface="Calibri"/>
                        </a:rPr>
                        <a:t>A</a:t>
                      </a:r>
                    </a:p>
                  </a:txBody>
                  <a:tcPr marL="54864" marR="54864" marT="27432" marB="27432" anchor="ctr">
                    <a:solidFill>
                      <a:srgbClr val="E3F4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D2330"/>
                          </a:solidFill>
                          <a:latin typeface="Calibri"/>
                        </a:rPr>
                        <a:t>R</a:t>
                      </a:r>
                    </a:p>
                  </a:txBody>
                  <a:tcPr marL="54864" marR="54864" marT="27432" marB="27432" anchor="ctr">
                    <a:solidFill>
                      <a:srgbClr val="E8F0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D2330"/>
                          </a:solidFill>
                          <a:latin typeface="Calibri"/>
                        </a:rPr>
                        <a:t>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D2330"/>
                          </a:solidFill>
                          <a:latin typeface="Calibri"/>
                        </a:rPr>
                        <a:t>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D2330"/>
                          </a:solidFill>
                          <a:latin typeface="Calibri"/>
                        </a:rPr>
                        <a:t>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D2330"/>
                          </a:solidFill>
                          <a:latin typeface="Calibri"/>
                        </a:rPr>
                        <a:t>Registrar y priorizar defectos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D2330"/>
                          </a:solidFill>
                          <a:latin typeface="Calibri"/>
                        </a:rPr>
                        <a:t>A</a:t>
                      </a:r>
                    </a:p>
                  </a:txBody>
                  <a:tcPr marL="54864" marR="54864" marT="27432" marB="27432" anchor="ctr">
                    <a:solidFill>
                      <a:srgbClr val="E3F4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D2330"/>
                          </a:solidFill>
                          <a:latin typeface="Calibri"/>
                        </a:rPr>
                        <a:t>R</a:t>
                      </a:r>
                    </a:p>
                  </a:txBody>
                  <a:tcPr marL="54864" marR="54864" marT="27432" marB="27432" anchor="ctr">
                    <a:solidFill>
                      <a:srgbClr val="E8F0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D2330"/>
                          </a:solidFill>
                          <a:latin typeface="Calibri"/>
                        </a:rPr>
                        <a:t>C</a:t>
                      </a:r>
                    </a:p>
                  </a:txBody>
                  <a:tcPr marL="54864" marR="54864" marT="27432" marB="27432" anchor="ctr"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D2330"/>
                          </a:solidFill>
                          <a:latin typeface="Calibri"/>
                        </a:rPr>
                        <a:t>C</a:t>
                      </a:r>
                    </a:p>
                  </a:txBody>
                  <a:tcPr marL="54864" marR="54864" marT="27432" marB="27432" anchor="ctr"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D2330"/>
                          </a:solidFill>
                          <a:latin typeface="Calibri"/>
                        </a:rPr>
                        <a:t>I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D2330"/>
                          </a:solidFill>
                          <a:latin typeface="Calibri"/>
                        </a:rPr>
                        <a:t>Corregir defectos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D2330"/>
                          </a:solidFill>
                          <a:latin typeface="Calibri"/>
                        </a:rPr>
                        <a:t>A</a:t>
                      </a:r>
                    </a:p>
                  </a:txBody>
                  <a:tcPr marL="54864" marR="54864" marT="27432" marB="27432" anchor="ctr">
                    <a:solidFill>
                      <a:srgbClr val="E3F4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D2330"/>
                          </a:solidFill>
                          <a:latin typeface="Calibri"/>
                        </a:rPr>
                        <a:t>C</a:t>
                      </a:r>
                    </a:p>
                  </a:txBody>
                  <a:tcPr marL="54864" marR="54864" marT="27432" marB="27432" anchor="ctr"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D2330"/>
                          </a:solidFill>
                          <a:latin typeface="Calibri"/>
                        </a:rPr>
                        <a:t>R</a:t>
                      </a:r>
                    </a:p>
                  </a:txBody>
                  <a:tcPr marL="54864" marR="54864" marT="27432" marB="27432" anchor="ctr">
                    <a:solidFill>
                      <a:srgbClr val="E8F0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D2330"/>
                          </a:solidFill>
                          <a:latin typeface="Calibri"/>
                        </a:rPr>
                        <a:t>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D2330"/>
                          </a:solidFill>
                          <a:latin typeface="Calibri"/>
                        </a:rPr>
                        <a:t>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D2330"/>
                          </a:solidFill>
                          <a:latin typeface="Calibri"/>
                        </a:rPr>
                        <a:t>Repetir pruebas y regresión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D2330"/>
                          </a:solidFill>
                          <a:latin typeface="Calibri"/>
                        </a:rPr>
                        <a:t>A</a:t>
                      </a:r>
                    </a:p>
                  </a:txBody>
                  <a:tcPr marL="54864" marR="54864" marT="27432" marB="27432" anchor="ctr">
                    <a:solidFill>
                      <a:srgbClr val="E3F4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D2330"/>
                          </a:solidFill>
                          <a:latin typeface="Calibri"/>
                        </a:rPr>
                        <a:t>R</a:t>
                      </a:r>
                    </a:p>
                  </a:txBody>
                  <a:tcPr marL="54864" marR="54864" marT="27432" marB="27432" anchor="ctr">
                    <a:solidFill>
                      <a:srgbClr val="E8F0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D2330"/>
                          </a:solidFill>
                          <a:latin typeface="Calibri"/>
                        </a:rPr>
                        <a:t>C</a:t>
                      </a:r>
                    </a:p>
                  </a:txBody>
                  <a:tcPr marL="54864" marR="54864" marT="27432" marB="27432" anchor="ctr"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D2330"/>
                          </a:solidFill>
                          <a:latin typeface="Calibri"/>
                        </a:rPr>
                        <a:t>I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D2330"/>
                          </a:solidFill>
                          <a:latin typeface="Calibri"/>
                        </a:rPr>
                        <a:t>I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D2330"/>
                          </a:solidFill>
                          <a:latin typeface="Calibri"/>
                        </a:rPr>
                        <a:t>Configurar el CI y la protección de ramas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D2330"/>
                          </a:solidFill>
                          <a:latin typeface="Calibri"/>
                        </a:rPr>
                        <a:t>A</a:t>
                      </a:r>
                    </a:p>
                  </a:txBody>
                  <a:tcPr marL="54864" marR="54864" marT="27432" marB="27432" anchor="ctr">
                    <a:solidFill>
                      <a:srgbClr val="E3F4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D2330"/>
                          </a:solidFill>
                          <a:latin typeface="Calibri"/>
                        </a:rPr>
                        <a:t>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D2330"/>
                          </a:solidFill>
                          <a:latin typeface="Calibri"/>
                        </a:rPr>
                        <a:t>R</a:t>
                      </a:r>
                    </a:p>
                  </a:txBody>
                  <a:tcPr marL="54864" marR="54864" marT="27432" marB="27432" anchor="ctr">
                    <a:solidFill>
                      <a:srgbClr val="E8F0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D2330"/>
                          </a:solidFill>
                          <a:latin typeface="Calibri"/>
                        </a:rPr>
                        <a:t>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D2330"/>
                          </a:solidFill>
                          <a:latin typeface="Calibri"/>
                        </a:rPr>
                        <a:t>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D2330"/>
                          </a:solidFill>
                          <a:latin typeface="Calibri"/>
                        </a:rPr>
                        <a:t>Revisar los mensajes de error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D2330"/>
                          </a:solidFill>
                          <a:latin typeface="Calibri"/>
                        </a:rPr>
                        <a:t>A</a:t>
                      </a:r>
                    </a:p>
                  </a:txBody>
                  <a:tcPr marL="54864" marR="54864" marT="27432" marB="27432" anchor="ctr">
                    <a:solidFill>
                      <a:srgbClr val="E3F4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D2330"/>
                          </a:solidFill>
                          <a:latin typeface="Calibri"/>
                        </a:rPr>
                        <a:t>C</a:t>
                      </a:r>
                    </a:p>
                  </a:txBody>
                  <a:tcPr marL="54864" marR="54864" marT="27432" marB="27432" anchor="ctr"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D2330"/>
                          </a:solidFill>
                          <a:latin typeface="Calibri"/>
                        </a:rPr>
                        <a:t>C</a:t>
                      </a:r>
                    </a:p>
                  </a:txBody>
                  <a:tcPr marL="54864" marR="54864" marT="27432" marB="27432" anchor="ctr"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D2330"/>
                          </a:solidFill>
                          <a:latin typeface="Calibri"/>
                        </a:rPr>
                        <a:t>R</a:t>
                      </a:r>
                    </a:p>
                  </a:txBody>
                  <a:tcPr marL="54864" marR="54864" marT="27432" marB="27432" anchor="ctr">
                    <a:solidFill>
                      <a:srgbClr val="E8F0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D2330"/>
                          </a:solidFill>
                          <a:latin typeface="Calibri"/>
                        </a:rPr>
                        <a:t>I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D2330"/>
                          </a:solidFill>
                          <a:latin typeface="Calibri"/>
                        </a:rPr>
                        <a:t>Validar los escenarios de aceptación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D2330"/>
                          </a:solidFill>
                          <a:latin typeface="Calibri"/>
                        </a:rPr>
                        <a:t>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D2330"/>
                          </a:solidFill>
                          <a:latin typeface="Calibri"/>
                        </a:rPr>
                        <a:t>R</a:t>
                      </a:r>
                    </a:p>
                  </a:txBody>
                  <a:tcPr marL="54864" marR="54864" marT="27432" marB="27432" anchor="ctr">
                    <a:solidFill>
                      <a:srgbClr val="E8F0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D2330"/>
                          </a:solidFill>
                          <a:latin typeface="Calibri"/>
                        </a:rPr>
                        <a:t>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D2330"/>
                          </a:solidFill>
                          <a:latin typeface="Calibri"/>
                        </a:rPr>
                        <a:t>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D2330"/>
                          </a:solidFill>
                          <a:latin typeface="Calibri"/>
                        </a:rPr>
                        <a:t>A</a:t>
                      </a:r>
                    </a:p>
                  </a:txBody>
                  <a:tcPr marL="54864" marR="54864" marT="27432" marB="27432" anchor="ctr">
                    <a:solidFill>
                      <a:srgbClr val="E3F4EA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D2330"/>
                          </a:solidFill>
                          <a:latin typeface="Calibri"/>
                        </a:rPr>
                        <a:t>Aprobar el Pull Request e integrar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D2330"/>
                          </a:solidFill>
                          <a:latin typeface="Calibri"/>
                        </a:rPr>
                        <a:t>R/A</a:t>
                      </a:r>
                    </a:p>
                  </a:txBody>
                  <a:tcPr marL="54864" marR="54864" marT="27432" marB="27432" anchor="ctr">
                    <a:solidFill>
                      <a:srgbClr val="E3F4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D2330"/>
                          </a:solidFill>
                          <a:latin typeface="Calibri"/>
                        </a:rPr>
                        <a:t>C</a:t>
                      </a:r>
                    </a:p>
                  </a:txBody>
                  <a:tcPr marL="54864" marR="54864" marT="27432" marB="27432" anchor="ctr"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D2330"/>
                          </a:solidFill>
                          <a:latin typeface="Calibri"/>
                        </a:rPr>
                        <a:t>C</a:t>
                      </a:r>
                    </a:p>
                  </a:txBody>
                  <a:tcPr marL="54864" marR="54864" marT="27432" marB="27432" anchor="ctr"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D2330"/>
                          </a:solidFill>
                          <a:latin typeface="Calibri"/>
                        </a:rPr>
                        <a:t>I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D2330"/>
                          </a:solidFill>
                          <a:latin typeface="Calibri"/>
                        </a:rPr>
                        <a:t>I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48640" y="598932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i="0">
                <a:solidFill>
                  <a:srgbClr val="5A6270"/>
                </a:solidFill>
                <a:latin typeface="Calibri"/>
              </a:rPr>
              <a:t>R = Responsable (realiza la actividad) · A = Aprueba y rinde cuentas (una sola persona por actividad) · C = Consultado antes de decidir · I = Informado del resultado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1D2330"/>
                </a:solidFill>
                <a:latin typeface="Calibri"/>
              </a:rPr>
              <a:t>Matriz de trazabilidad</a:t>
            </a:r>
          </a:p>
          <a:p>
            <a:r>
              <a:rPr sz="1400">
                <a:solidFill>
                  <a:srgbClr val="5A6270"/>
                </a:solidFill>
                <a:latin typeface="Calibri"/>
              </a:rPr>
              <a:t>Cada requisito funcional queda cubierto por al menos un caso de prueba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463040"/>
          <a:ext cx="11064240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518160"/>
                <a:gridCol w="518160"/>
                <a:gridCol w="518160"/>
                <a:gridCol w="518160"/>
                <a:gridCol w="518160"/>
                <a:gridCol w="518160"/>
                <a:gridCol w="518160"/>
                <a:gridCol w="518160"/>
                <a:gridCol w="518160"/>
                <a:gridCol w="518160"/>
                <a:gridCol w="518160"/>
                <a:gridCol w="518160"/>
                <a:gridCol w="518160"/>
                <a:gridCol w="518160"/>
                <a:gridCol w="518160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Requisito</a:t>
                      </a:r>
                    </a:p>
                  </a:txBody>
                  <a:tcPr marL="54864" marR="54864" marT="27432" marB="27432" anchor="ctr">
                    <a:solidFill>
                      <a:srgbClr val="1F4E8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CP-01</a:t>
                      </a:r>
                    </a:p>
                  </a:txBody>
                  <a:tcPr marL="54864" marR="54864" marT="27432" marB="27432" anchor="ctr">
                    <a:solidFill>
                      <a:srgbClr val="1F4E8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CP-02</a:t>
                      </a:r>
                    </a:p>
                  </a:txBody>
                  <a:tcPr marL="54864" marR="54864" marT="27432" marB="27432" anchor="ctr">
                    <a:solidFill>
                      <a:srgbClr val="1F4E8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CP-03</a:t>
                      </a:r>
                    </a:p>
                  </a:txBody>
                  <a:tcPr marL="54864" marR="54864" marT="27432" marB="27432" anchor="ctr">
                    <a:solidFill>
                      <a:srgbClr val="1F4E8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CP-04</a:t>
                      </a:r>
                    </a:p>
                  </a:txBody>
                  <a:tcPr marL="54864" marR="54864" marT="27432" marB="27432" anchor="ctr">
                    <a:solidFill>
                      <a:srgbClr val="1F4E8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CP-05</a:t>
                      </a:r>
                    </a:p>
                  </a:txBody>
                  <a:tcPr marL="54864" marR="54864" marT="27432" marB="27432" anchor="ctr">
                    <a:solidFill>
                      <a:srgbClr val="1F4E8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CP-06</a:t>
                      </a:r>
                    </a:p>
                  </a:txBody>
                  <a:tcPr marL="54864" marR="54864" marT="27432" marB="27432" anchor="ctr">
                    <a:solidFill>
                      <a:srgbClr val="1F4E8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CP-07</a:t>
                      </a:r>
                    </a:p>
                  </a:txBody>
                  <a:tcPr marL="54864" marR="54864" marT="27432" marB="27432" anchor="ctr">
                    <a:solidFill>
                      <a:srgbClr val="1F4E8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CP-08</a:t>
                      </a:r>
                    </a:p>
                  </a:txBody>
                  <a:tcPr marL="54864" marR="54864" marT="27432" marB="27432" anchor="ctr">
                    <a:solidFill>
                      <a:srgbClr val="1F4E8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CP-09</a:t>
                      </a:r>
                    </a:p>
                  </a:txBody>
                  <a:tcPr marL="54864" marR="54864" marT="27432" marB="27432" anchor="ctr">
                    <a:solidFill>
                      <a:srgbClr val="1F4E8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CP-10</a:t>
                      </a:r>
                    </a:p>
                  </a:txBody>
                  <a:tcPr marL="54864" marR="54864" marT="27432" marB="27432" anchor="ctr">
                    <a:solidFill>
                      <a:srgbClr val="1F4E8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CP-11</a:t>
                      </a:r>
                    </a:p>
                  </a:txBody>
                  <a:tcPr marL="54864" marR="54864" marT="27432" marB="27432" anchor="ctr">
                    <a:solidFill>
                      <a:srgbClr val="1F4E8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CP-12</a:t>
                      </a:r>
                    </a:p>
                  </a:txBody>
                  <a:tcPr marL="54864" marR="54864" marT="27432" marB="27432" anchor="ctr">
                    <a:solidFill>
                      <a:srgbClr val="1F4E8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CP-13</a:t>
                      </a:r>
                    </a:p>
                  </a:txBody>
                  <a:tcPr marL="54864" marR="54864" marT="27432" marB="27432" anchor="ctr">
                    <a:solidFill>
                      <a:srgbClr val="1F4E8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CP-14</a:t>
                      </a:r>
                    </a:p>
                  </a:txBody>
                  <a:tcPr marL="54864" marR="54864" marT="27432" marB="27432" anchor="ctr">
                    <a:solidFill>
                      <a:srgbClr val="1F4E8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CP-15</a:t>
                      </a:r>
                    </a:p>
                  </a:txBody>
                  <a:tcPr marL="54864" marR="54864" marT="27432" marB="27432" anchor="ctr">
                    <a:solidFill>
                      <a:srgbClr val="1F4E8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1D2330"/>
                          </a:solidFill>
                          <a:latin typeface="Calibri"/>
                        </a:rPr>
                        <a:t>RF-01 · Registrar productos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D2330"/>
                          </a:solidFill>
                          <a:latin typeface="Calibri"/>
                        </a:rPr>
                        <a:t>✔</a:t>
                      </a:r>
                    </a:p>
                  </a:txBody>
                  <a:tcPr marL="54864" marR="54864" marT="27432" marB="27432" anchor="ctr">
                    <a:solidFill>
                      <a:srgbClr val="E8F0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D2330"/>
                          </a:solidFill>
                          <a:latin typeface="Calibri"/>
                        </a:rPr>
                        <a:t>✔</a:t>
                      </a:r>
                    </a:p>
                  </a:txBody>
                  <a:tcPr marL="54864" marR="54864" marT="27432" marB="27432" anchor="ctr">
                    <a:solidFill>
                      <a:srgbClr val="E8F0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D233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D233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D233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D233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D2330"/>
                          </a:solidFill>
                          <a:latin typeface="Calibri"/>
                        </a:rPr>
                        <a:t>✔</a:t>
                      </a:r>
                    </a:p>
                  </a:txBody>
                  <a:tcPr marL="54864" marR="54864" marT="27432" marB="27432" anchor="ctr">
                    <a:solidFill>
                      <a:srgbClr val="E8F0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D233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D233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D233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D233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D2330"/>
                          </a:solidFill>
                          <a:latin typeface="Calibri"/>
                        </a:rPr>
                        <a:t>✔</a:t>
                      </a:r>
                    </a:p>
                  </a:txBody>
                  <a:tcPr marL="54864" marR="54864" marT="27432" marB="27432" anchor="ctr">
                    <a:solidFill>
                      <a:srgbClr val="E8F0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D233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D233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D2330"/>
                          </a:solidFill>
                          <a:latin typeface="Calibri"/>
                        </a:rPr>
                        <a:t>✔</a:t>
                      </a:r>
                    </a:p>
                  </a:txBody>
                  <a:tcPr marL="54864" marR="54864" marT="27432" marB="27432" anchor="ctr">
                    <a:solidFill>
                      <a:srgbClr val="E8F0FB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1D2330"/>
                          </a:solidFill>
                          <a:latin typeface="Calibri"/>
                        </a:rPr>
                        <a:t>RF-02 · Consultar existencias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D233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D233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D233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D233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D2330"/>
                          </a:solidFill>
                          <a:latin typeface="Calibri"/>
                        </a:rPr>
                        <a:t>✔</a:t>
                      </a:r>
                    </a:p>
                  </a:txBody>
                  <a:tcPr marL="54864" marR="54864" marT="27432" marB="27432" anchor="ctr">
                    <a:solidFill>
                      <a:srgbClr val="E8F0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D233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D2330"/>
                          </a:solidFill>
                          <a:latin typeface="Calibri"/>
                        </a:rPr>
                        <a:t>✔</a:t>
                      </a:r>
                    </a:p>
                  </a:txBody>
                  <a:tcPr marL="54864" marR="54864" marT="27432" marB="27432" anchor="ctr">
                    <a:solidFill>
                      <a:srgbClr val="E8F0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D233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D233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D2330"/>
                          </a:solidFill>
                          <a:latin typeface="Calibri"/>
                        </a:rPr>
                        <a:t>✔</a:t>
                      </a:r>
                    </a:p>
                  </a:txBody>
                  <a:tcPr marL="54864" marR="54864" marT="27432" marB="27432" anchor="ctr">
                    <a:solidFill>
                      <a:srgbClr val="E8F0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D2330"/>
                          </a:solidFill>
                          <a:latin typeface="Calibri"/>
                        </a:rPr>
                        <a:t>✔</a:t>
                      </a:r>
                    </a:p>
                  </a:txBody>
                  <a:tcPr marL="54864" marR="54864" marT="27432" marB="27432" anchor="ctr">
                    <a:solidFill>
                      <a:srgbClr val="E8F0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D233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D233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D2330"/>
                          </a:solidFill>
                          <a:latin typeface="Calibri"/>
                        </a:rPr>
                        <a:t>✔</a:t>
                      </a:r>
                    </a:p>
                  </a:txBody>
                  <a:tcPr marL="54864" marR="54864" marT="27432" marB="27432" anchor="ctr">
                    <a:solidFill>
                      <a:srgbClr val="E8F0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D2330"/>
                          </a:solidFill>
                          <a:latin typeface="Calibri"/>
                        </a:rPr>
                        <a:t>✔</a:t>
                      </a:r>
                    </a:p>
                  </a:txBody>
                  <a:tcPr marL="54864" marR="54864" marT="27432" marB="27432" anchor="ctr">
                    <a:solidFill>
                      <a:srgbClr val="E8F0FB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1D2330"/>
                          </a:solidFill>
                          <a:latin typeface="Calibri"/>
                        </a:rPr>
                        <a:t>RF-03 · Registrar ventas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D233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D233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D2330"/>
                          </a:solidFill>
                          <a:latin typeface="Calibri"/>
                        </a:rPr>
                        <a:t>✔</a:t>
                      </a:r>
                    </a:p>
                  </a:txBody>
                  <a:tcPr marL="54864" marR="54864" marT="27432" marB="27432" anchor="ctr">
                    <a:solidFill>
                      <a:srgbClr val="E8F0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D2330"/>
                          </a:solidFill>
                          <a:latin typeface="Calibri"/>
                        </a:rPr>
                        <a:t>✔</a:t>
                      </a:r>
                    </a:p>
                  </a:txBody>
                  <a:tcPr marL="54864" marR="54864" marT="27432" marB="27432" anchor="ctr">
                    <a:solidFill>
                      <a:srgbClr val="E8F0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D2330"/>
                          </a:solidFill>
                          <a:latin typeface="Calibri"/>
                        </a:rPr>
                        <a:t>✔</a:t>
                      </a:r>
                    </a:p>
                  </a:txBody>
                  <a:tcPr marL="54864" marR="54864" marT="27432" marB="27432" anchor="ctr">
                    <a:solidFill>
                      <a:srgbClr val="E8F0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D2330"/>
                          </a:solidFill>
                          <a:latin typeface="Calibri"/>
                        </a:rPr>
                        <a:t>✔</a:t>
                      </a:r>
                    </a:p>
                  </a:txBody>
                  <a:tcPr marL="54864" marR="54864" marT="27432" marB="27432" anchor="ctr">
                    <a:solidFill>
                      <a:srgbClr val="E8F0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D2330"/>
                          </a:solidFill>
                          <a:latin typeface="Calibri"/>
                        </a:rPr>
                        <a:t>✔</a:t>
                      </a:r>
                    </a:p>
                  </a:txBody>
                  <a:tcPr marL="54864" marR="54864" marT="27432" marB="27432" anchor="ctr">
                    <a:solidFill>
                      <a:srgbClr val="E8F0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D2330"/>
                          </a:solidFill>
                          <a:latin typeface="Calibri"/>
                        </a:rPr>
                        <a:t>✔</a:t>
                      </a:r>
                    </a:p>
                  </a:txBody>
                  <a:tcPr marL="54864" marR="54864" marT="27432" marB="27432" anchor="ctr">
                    <a:solidFill>
                      <a:srgbClr val="E8F0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D233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D233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D233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D233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D233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D233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D2330"/>
                          </a:solidFill>
                          <a:latin typeface="Calibri"/>
                        </a:rPr>
                        <a:t>✔</a:t>
                      </a:r>
                    </a:p>
                  </a:txBody>
                  <a:tcPr marL="54864" marR="54864" marT="27432" marB="27432" anchor="ctr">
                    <a:solidFill>
                      <a:srgbClr val="E8F0FB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1D2330"/>
                          </a:solidFill>
                          <a:latin typeface="Calibri"/>
                        </a:rPr>
                        <a:t>RF-04 · Registrar entradas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D233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D233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D233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D233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D233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D233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D233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D233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D233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D2330"/>
                          </a:solidFill>
                          <a:latin typeface="Calibri"/>
                        </a:rPr>
                        <a:t>✔</a:t>
                      </a:r>
                    </a:p>
                  </a:txBody>
                  <a:tcPr marL="54864" marR="54864" marT="27432" marB="27432" anchor="ctr">
                    <a:solidFill>
                      <a:srgbClr val="E8F0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D233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D233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D2330"/>
                          </a:solidFill>
                          <a:latin typeface="Calibri"/>
                        </a:rPr>
                        <a:t>✔</a:t>
                      </a:r>
                    </a:p>
                  </a:txBody>
                  <a:tcPr marL="54864" marR="54864" marT="27432" marB="27432" anchor="ctr">
                    <a:solidFill>
                      <a:srgbClr val="E8F0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D233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D2330"/>
                          </a:solidFill>
                          <a:latin typeface="Calibri"/>
                        </a:rPr>
                        <a:t>✔</a:t>
                      </a:r>
                    </a:p>
                  </a:txBody>
                  <a:tcPr marL="54864" marR="54864" marT="27432" marB="27432" anchor="ctr">
                    <a:solidFill>
                      <a:srgbClr val="E8F0FB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1D2330"/>
                          </a:solidFill>
                          <a:latin typeface="Calibri"/>
                        </a:rPr>
                        <a:t>RF-05 · Reporte y resurtido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D233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D233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D233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D233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D233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D233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D233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D233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D2330"/>
                          </a:solidFill>
                          <a:latin typeface="Calibri"/>
                        </a:rPr>
                        <a:t>✔</a:t>
                      </a:r>
                    </a:p>
                  </a:txBody>
                  <a:tcPr marL="54864" marR="54864" marT="27432" marB="27432" anchor="ctr">
                    <a:solidFill>
                      <a:srgbClr val="E8F0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D233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D233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D233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D233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D233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D2330"/>
                          </a:solidFill>
                          <a:latin typeface="Calibri"/>
                        </a:rPr>
                        <a:t>✔</a:t>
                      </a:r>
                    </a:p>
                  </a:txBody>
                  <a:tcPr marL="54864" marR="54864" marT="27432" marB="27432" anchor="ctr">
                    <a:solidFill>
                      <a:srgbClr val="E8F0FB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48640" y="475488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i="0">
                <a:solidFill>
                  <a:srgbClr val="5A6270"/>
                </a:solidFill>
                <a:latin typeface="Calibri"/>
              </a:rPr>
              <a:t>Unitaria: CP-01, CP-02, CP-03, CP-04 y CP-12 · Integración: CP-05, CP-06, CP-13 y CP-14 · Sistema: CP-07, CP-08 y CP-11 · Aceptación: CP-09, CP-10 y CP-15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1D2330"/>
                </a:solidFill>
                <a:latin typeface="Calibri"/>
              </a:rPr>
              <a:t>Porcentaje de casos aprobados por ronda</a:t>
            </a:r>
          </a:p>
          <a:p>
            <a:r>
              <a:rPr sz="1400">
                <a:solidFill>
                  <a:srgbClr val="5A6270"/>
                </a:solidFill>
                <a:latin typeface="Calibri"/>
              </a:rPr>
              <a:t>Aprobación = pruebas aprobadas / pruebas ejecutadas × 100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731520" y="1371600"/>
          <a:ext cx="10698480" cy="48463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1D2330"/>
                </a:solidFill>
                <a:latin typeface="Calibri"/>
              </a:rPr>
              <a:t>Repetición de las pruebas al corregir un defecto</a:t>
            </a:r>
          </a:p>
          <a:p>
            <a:r>
              <a:rPr sz="1400">
                <a:solidFill>
                  <a:srgbClr val="5A6270"/>
                </a:solidFill>
                <a:latin typeface="Calibri"/>
              </a:rPr>
              <a:t>Ciclo que sigue cada defecto (DEF-01, DEF-02) hasta cerrarse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463040"/>
            <a:ext cx="3154680" cy="1554480"/>
          </a:xfrm>
          <a:prstGeom prst="roundRect">
            <a:avLst>
              <a:gd name="adj" fmla="val 10000"/>
            </a:avLst>
          </a:prstGeom>
          <a:solidFill>
            <a:srgbClr val="F4F5F7"/>
          </a:solidFill>
          <a:ln w="25400">
            <a:solidFill>
              <a:srgbClr val="5A62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73152"/>
          <a:lstStyle/>
          <a:p>
            <a:pPr algn="l"/>
            <a:r>
              <a:rPr sz="1600" b="1">
                <a:solidFill>
                  <a:srgbClr val="5A6270"/>
                </a:solidFill>
                <a:latin typeface="Calibri"/>
              </a:rPr>
              <a:t>1. Registro</a:t>
            </a:r>
          </a:p>
          <a:p>
            <a:pPr algn="l"/>
            <a:r>
              <a:rPr sz="1300">
                <a:solidFill>
                  <a:srgbClr val="1D2330"/>
                </a:solidFill>
                <a:latin typeface="Calibri"/>
              </a:rPr>
              <a:t>Chuina registra el defecto</a:t>
            </a:r>
          </a:p>
          <a:p>
            <a:pPr algn="l"/>
            <a:r>
              <a:rPr sz="1300">
                <a:solidFill>
                  <a:srgbClr val="1D2330"/>
                </a:solidFill>
                <a:latin typeface="Calibri"/>
              </a:rPr>
              <a:t>con ID, caso que falló y evidencia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26280" y="1463040"/>
            <a:ext cx="3154680" cy="1554480"/>
          </a:xfrm>
          <a:prstGeom prst="roundRect">
            <a:avLst>
              <a:gd name="adj" fmla="val 10000"/>
            </a:avLst>
          </a:prstGeom>
          <a:solidFill>
            <a:srgbClr val="E8F0FB"/>
          </a:solidFill>
          <a:ln w="25400">
            <a:solidFill>
              <a:srgbClr val="1F4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73152"/>
          <a:lstStyle/>
          <a:p>
            <a:pPr algn="l"/>
            <a:r>
              <a:rPr sz="1600" b="1">
                <a:solidFill>
                  <a:srgbClr val="1F4E8C"/>
                </a:solidFill>
                <a:latin typeface="Calibri"/>
              </a:rPr>
              <a:t>2. Corrección</a:t>
            </a:r>
          </a:p>
          <a:p>
            <a:pPr algn="l"/>
            <a:r>
              <a:rPr sz="1300">
                <a:solidFill>
                  <a:srgbClr val="1D2330"/>
                </a:solidFill>
                <a:latin typeface="Calibri"/>
              </a:rPr>
              <a:t>Pablo crea la rama fix/DEF-0X</a:t>
            </a:r>
          </a:p>
          <a:p>
            <a:pPr algn="l"/>
            <a:r>
              <a:rPr sz="1300">
                <a:solidFill>
                  <a:srgbClr val="1D2330"/>
                </a:solidFill>
                <a:latin typeface="Calibri"/>
              </a:rPr>
              <a:t>desde develop y corrige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503920" y="1463040"/>
            <a:ext cx="3154680" cy="1554480"/>
          </a:xfrm>
          <a:prstGeom prst="roundRect">
            <a:avLst>
              <a:gd name="adj" fmla="val 10000"/>
            </a:avLst>
          </a:prstGeom>
          <a:solidFill>
            <a:srgbClr val="E8F0FB"/>
          </a:solidFill>
          <a:ln w="25400">
            <a:solidFill>
              <a:srgbClr val="1F4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73152"/>
          <a:lstStyle/>
          <a:p>
            <a:pPr algn="l"/>
            <a:r>
              <a:rPr sz="1600" b="1">
                <a:solidFill>
                  <a:srgbClr val="1F4E8C"/>
                </a:solidFill>
                <a:latin typeface="Calibri"/>
              </a:rPr>
              <a:t>3. Prueba de repetición</a:t>
            </a:r>
          </a:p>
          <a:p>
            <a:pPr algn="l"/>
            <a:r>
              <a:rPr sz="1300">
                <a:solidFill>
                  <a:srgbClr val="1D2330"/>
                </a:solidFill>
                <a:latin typeface="Calibri"/>
              </a:rPr>
              <a:t>se ejecuta solo el caso que falló</a:t>
            </a:r>
          </a:p>
          <a:p>
            <a:pPr algn="l"/>
            <a:r>
              <a:rPr sz="1300">
                <a:solidFill>
                  <a:srgbClr val="1D2330"/>
                </a:solidFill>
                <a:latin typeface="Calibri"/>
              </a:rPr>
              <a:t>phpunit --filter …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503920" y="3931920"/>
            <a:ext cx="3154680" cy="1554480"/>
          </a:xfrm>
          <a:prstGeom prst="roundRect">
            <a:avLst>
              <a:gd name="adj" fmla="val 10000"/>
            </a:avLst>
          </a:prstGeom>
          <a:solidFill>
            <a:srgbClr val="E8F0FB"/>
          </a:solidFill>
          <a:ln w="25400">
            <a:solidFill>
              <a:srgbClr val="1F4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73152"/>
          <a:lstStyle/>
          <a:p>
            <a:pPr algn="l"/>
            <a:r>
              <a:rPr sz="1600" b="1">
                <a:solidFill>
                  <a:srgbClr val="1F4E8C"/>
                </a:solidFill>
                <a:latin typeface="Calibri"/>
              </a:rPr>
              <a:t>4. Regresión completa</a:t>
            </a:r>
          </a:p>
          <a:p>
            <a:pPr algn="l"/>
            <a:r>
              <a:rPr sz="1300">
                <a:solidFill>
                  <a:srgbClr val="1D2330"/>
                </a:solidFill>
                <a:latin typeface="Calibri"/>
              </a:rPr>
              <a:t>el PR dispara el CI:</a:t>
            </a:r>
          </a:p>
          <a:p>
            <a:pPr algn="l"/>
            <a:r>
              <a:rPr sz="1300">
                <a:solidFill>
                  <a:srgbClr val="1D2330"/>
                </a:solidFill>
                <a:latin typeface="Calibri"/>
              </a:rPr>
              <a:t>los 15 casos por niveles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26280" y="3931920"/>
            <a:ext cx="3154680" cy="1554480"/>
          </a:xfrm>
          <a:prstGeom prst="roundRect">
            <a:avLst>
              <a:gd name="adj" fmla="val 10000"/>
            </a:avLst>
          </a:prstGeom>
          <a:solidFill>
            <a:srgbClr val="E8F0FB"/>
          </a:solidFill>
          <a:ln w="25400">
            <a:solidFill>
              <a:srgbClr val="1F4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73152"/>
          <a:lstStyle/>
          <a:p>
            <a:pPr algn="l"/>
            <a:r>
              <a:rPr sz="1600" b="1">
                <a:solidFill>
                  <a:srgbClr val="1F4E8C"/>
                </a:solidFill>
                <a:latin typeface="Calibri"/>
              </a:rPr>
              <a:t>5. Defectos inyectados</a:t>
            </a:r>
          </a:p>
          <a:p>
            <a:pPr algn="l"/>
            <a:r>
              <a:rPr sz="1300">
                <a:solidFill>
                  <a:srgbClr val="1D2330"/>
                </a:solidFill>
                <a:latin typeface="Calibri"/>
              </a:rPr>
              <a:t>simular-defectos.php confirma</a:t>
            </a:r>
          </a:p>
          <a:p>
            <a:pPr algn="l"/>
            <a:r>
              <a:rPr sz="1300">
                <a:solidFill>
                  <a:srgbClr val="1D2330"/>
                </a:solidFill>
                <a:latin typeface="Calibri"/>
              </a:rPr>
              <a:t>que se siguen detectando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3931920"/>
            <a:ext cx="3154680" cy="1554480"/>
          </a:xfrm>
          <a:prstGeom prst="roundRect">
            <a:avLst>
              <a:gd name="adj" fmla="val 10000"/>
            </a:avLst>
          </a:prstGeom>
          <a:solidFill>
            <a:srgbClr val="E3F4EA"/>
          </a:solidFill>
          <a:ln w="25400">
            <a:solidFill>
              <a:srgbClr val="1F7A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73152"/>
          <a:lstStyle/>
          <a:p>
            <a:pPr algn="l"/>
            <a:r>
              <a:rPr sz="1600" b="1">
                <a:solidFill>
                  <a:srgbClr val="1F7A4D"/>
                </a:solidFill>
                <a:latin typeface="Calibri"/>
              </a:rPr>
              <a:t>6. Cierre</a:t>
            </a:r>
          </a:p>
          <a:p>
            <a:pPr algn="l"/>
            <a:r>
              <a:rPr sz="1300">
                <a:solidFill>
                  <a:srgbClr val="1D2330"/>
                </a:solidFill>
                <a:latin typeface="Calibri"/>
              </a:rPr>
              <a:t>Emily revisa el PR, merge a develop</a:t>
            </a:r>
          </a:p>
          <a:p>
            <a:pPr algn="l"/>
            <a:r>
              <a:rPr sz="1300">
                <a:solidFill>
                  <a:srgbClr val="1D2330"/>
                </a:solidFill>
                <a:latin typeface="Calibri"/>
              </a:rPr>
              <a:t>y el defecto pasa a Cerrado</a:t>
            </a:r>
          </a:p>
        </p:txBody>
      </p:sp>
      <p:cxnSp>
        <p:nvCxnSpPr>
          <p:cNvPr id="9" name="Connector 8"/>
          <p:cNvCxnSpPr>
            <a:stCxn id="3" idx="3"/>
            <a:endCxn id="4" idx="1"/>
          </p:cNvCxnSpPr>
          <p:nvPr/>
        </p:nvCxnSpPr>
        <p:spPr>
          <a:xfrm flipV="1">
            <a:off x="3703320" y="2240280"/>
            <a:ext cx="822960" cy="0"/>
          </a:xfrm>
          <a:prstGeom prst="line">
            <a:avLst/>
          </a:prstGeom>
          <a:ln w="28575">
            <a:solidFill>
              <a:srgbClr val="5A627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>
            <a:stCxn id="4" idx="3"/>
            <a:endCxn id="5" idx="1"/>
          </p:cNvCxnSpPr>
          <p:nvPr/>
        </p:nvCxnSpPr>
        <p:spPr>
          <a:xfrm flipV="1">
            <a:off x="7680960" y="2240280"/>
            <a:ext cx="822960" cy="0"/>
          </a:xfrm>
          <a:prstGeom prst="line">
            <a:avLst/>
          </a:prstGeom>
          <a:ln w="28575">
            <a:solidFill>
              <a:srgbClr val="5A627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>
            <a:stCxn id="5" idx="2"/>
            <a:endCxn id="6" idx="0"/>
          </p:cNvCxnSpPr>
          <p:nvPr/>
        </p:nvCxnSpPr>
        <p:spPr>
          <a:xfrm flipH="1">
            <a:off x="10081260" y="3017520"/>
            <a:ext cx="0" cy="914400"/>
          </a:xfrm>
          <a:prstGeom prst="line">
            <a:avLst/>
          </a:prstGeom>
          <a:ln w="28575">
            <a:solidFill>
              <a:srgbClr val="5A627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>
            <a:stCxn id="6" idx="1"/>
            <a:endCxn id="7" idx="3"/>
          </p:cNvCxnSpPr>
          <p:nvPr/>
        </p:nvCxnSpPr>
        <p:spPr>
          <a:xfrm flipH="1" flipV="1">
            <a:off x="7680960" y="4709160"/>
            <a:ext cx="822960" cy="0"/>
          </a:xfrm>
          <a:prstGeom prst="line">
            <a:avLst/>
          </a:prstGeom>
          <a:ln w="28575">
            <a:solidFill>
              <a:srgbClr val="5A627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>
            <a:stCxn id="7" idx="1"/>
            <a:endCxn id="8" idx="3"/>
          </p:cNvCxnSpPr>
          <p:nvPr/>
        </p:nvCxnSpPr>
        <p:spPr>
          <a:xfrm flipH="1" flipV="1">
            <a:off x="3703320" y="4709160"/>
            <a:ext cx="822960" cy="0"/>
          </a:xfrm>
          <a:prstGeom prst="line">
            <a:avLst/>
          </a:prstGeom>
          <a:ln w="28575">
            <a:solidFill>
              <a:srgbClr val="5A627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 flipV="1">
            <a:off x="6355080" y="3017520"/>
            <a:ext cx="2880360" cy="914400"/>
          </a:xfrm>
          <a:prstGeom prst="line">
            <a:avLst/>
          </a:prstGeom>
          <a:ln w="28575">
            <a:solidFill>
              <a:srgbClr val="B4231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5120640" y="3429000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i="1">
                <a:solidFill>
                  <a:srgbClr val="B42318"/>
                </a:solidFill>
                <a:latin typeface="Calibri"/>
              </a:rPr>
              <a:t>si algún caso falla, se regresa a corrección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1D2330"/>
                </a:solidFill>
                <a:latin typeface="Calibri"/>
              </a:rPr>
              <a:t>Flujo de trabajo con integración continua</a:t>
            </a:r>
          </a:p>
          <a:p>
            <a:r>
              <a:rPr sz="1400">
                <a:solidFill>
                  <a:srgbClr val="5A6270"/>
                </a:solidFill>
                <a:latin typeface="Calibri"/>
              </a:rPr>
              <a:t>Del cambio en el código a la integración en el repositorio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371600"/>
            <a:ext cx="2514600" cy="1417320"/>
          </a:xfrm>
          <a:prstGeom prst="roundRect">
            <a:avLst>
              <a:gd name="adj" fmla="val 10000"/>
            </a:avLst>
          </a:prstGeom>
          <a:solidFill>
            <a:srgbClr val="F4F5F7"/>
          </a:solidFill>
          <a:ln w="25400">
            <a:solidFill>
              <a:srgbClr val="5A62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73152"/>
          <a:lstStyle/>
          <a:p>
            <a:pPr algn="l"/>
            <a:r>
              <a:rPr sz="1500" b="1">
                <a:solidFill>
                  <a:srgbClr val="5A6270"/>
                </a:solidFill>
                <a:latin typeface="Calibri"/>
              </a:rPr>
              <a:t>1. Cambio en el código</a:t>
            </a:r>
          </a:p>
          <a:p>
            <a:pPr algn="l"/>
            <a:r>
              <a:rPr sz="1200">
                <a:solidFill>
                  <a:srgbClr val="1D2330"/>
                </a:solidFill>
                <a:latin typeface="Calibri"/>
              </a:rPr>
              <a:t>implementa una función o</a:t>
            </a:r>
          </a:p>
          <a:p>
            <a:pPr algn="l"/>
            <a:r>
              <a:rPr sz="1200">
                <a:solidFill>
                  <a:srgbClr val="1D2330"/>
                </a:solidFill>
                <a:latin typeface="Calibri"/>
              </a:rPr>
              <a:t>corrige un defecto (rama fix/**)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429000" y="1371600"/>
            <a:ext cx="2514600" cy="1417320"/>
          </a:xfrm>
          <a:prstGeom prst="roundRect">
            <a:avLst>
              <a:gd name="adj" fmla="val 10000"/>
            </a:avLst>
          </a:prstGeom>
          <a:solidFill>
            <a:srgbClr val="E8F0FB"/>
          </a:solidFill>
          <a:ln w="25400">
            <a:solidFill>
              <a:srgbClr val="1F4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73152"/>
          <a:lstStyle/>
          <a:p>
            <a:pPr algn="l"/>
            <a:r>
              <a:rPr sz="1500" b="1">
                <a:solidFill>
                  <a:srgbClr val="1F4E8C"/>
                </a:solidFill>
                <a:latin typeface="Calibri"/>
              </a:rPr>
              <a:t>2. Commit y push</a:t>
            </a:r>
          </a:p>
          <a:p>
            <a:pPr algn="l"/>
            <a:r>
              <a:rPr sz="1200">
                <a:solidFill>
                  <a:srgbClr val="1D2330"/>
                </a:solidFill>
                <a:latin typeface="Calibri"/>
              </a:rPr>
              <a:t>se registra y comparte</a:t>
            </a:r>
          </a:p>
          <a:p>
            <a:pPr algn="l"/>
            <a:r>
              <a:rPr sz="1200">
                <a:solidFill>
                  <a:srgbClr val="1D2330"/>
                </a:solidFill>
                <a:latin typeface="Calibri"/>
              </a:rPr>
              <a:t>el cambio; se abre el PR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0" y="1371600"/>
            <a:ext cx="2514600" cy="1417320"/>
          </a:xfrm>
          <a:prstGeom prst="roundRect">
            <a:avLst>
              <a:gd name="adj" fmla="val 10000"/>
            </a:avLst>
          </a:prstGeom>
          <a:solidFill>
            <a:srgbClr val="E8F0FB"/>
          </a:solidFill>
          <a:ln w="25400">
            <a:solidFill>
              <a:srgbClr val="1F4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73152"/>
          <a:lstStyle/>
          <a:p>
            <a:pPr algn="l"/>
            <a:r>
              <a:rPr sz="1500" b="1">
                <a:solidFill>
                  <a:srgbClr val="1F4E8C"/>
                </a:solidFill>
                <a:latin typeface="Calibri"/>
              </a:rPr>
              <a:t>3. GitHub Actions</a:t>
            </a:r>
          </a:p>
          <a:p>
            <a:pPr algn="l"/>
            <a:r>
              <a:rPr sz="1200">
                <a:solidFill>
                  <a:srgbClr val="1D2330"/>
                </a:solidFill>
                <a:latin typeface="Calibri"/>
              </a:rPr>
              <a:t>prepara el entorno:</a:t>
            </a:r>
          </a:p>
          <a:p>
            <a:pPr algn="l"/>
            <a:r>
              <a:rPr sz="1200">
                <a:solidFill>
                  <a:srgbClr val="1D2330"/>
                </a:solidFill>
                <a:latin typeface="Calibri"/>
              </a:rPr>
              <a:t>ubuntu, PHP 8.2 · 8.3 · 8.4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281160" y="1371600"/>
            <a:ext cx="2423160" cy="1417320"/>
          </a:xfrm>
          <a:prstGeom prst="roundRect">
            <a:avLst>
              <a:gd name="adj" fmla="val 10000"/>
            </a:avLst>
          </a:prstGeom>
          <a:solidFill>
            <a:srgbClr val="E8F0FB"/>
          </a:solidFill>
          <a:ln w="25400">
            <a:solidFill>
              <a:srgbClr val="1F4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73152"/>
          <a:lstStyle/>
          <a:p>
            <a:pPr algn="l"/>
            <a:r>
              <a:rPr sz="1500" b="1">
                <a:solidFill>
                  <a:srgbClr val="1F4E8C"/>
                </a:solidFill>
                <a:latin typeface="Calibri"/>
              </a:rPr>
              <a:t>4. Pruebas</a:t>
            </a:r>
          </a:p>
          <a:p>
            <a:pPr algn="l"/>
            <a:r>
              <a:rPr sz="1200">
                <a:solidFill>
                  <a:srgbClr val="1D2330"/>
                </a:solidFill>
                <a:latin typeface="Calibri"/>
              </a:rPr>
              <a:t>unitarias, integración,</a:t>
            </a:r>
          </a:p>
          <a:p>
            <a:pPr algn="l"/>
            <a:r>
              <a:rPr sz="1200">
                <a:solidFill>
                  <a:srgbClr val="1D2330"/>
                </a:solidFill>
                <a:latin typeface="Calibri"/>
              </a:rPr>
              <a:t>sistema, aceptación</a:t>
            </a:r>
          </a:p>
          <a:p>
            <a:pPr algn="l"/>
            <a:r>
              <a:rPr sz="1200">
                <a:solidFill>
                  <a:srgbClr val="1D2330"/>
                </a:solidFill>
                <a:latin typeface="Calibri"/>
              </a:rPr>
              <a:t>y regresión DEF</a:t>
            </a:r>
          </a:p>
        </p:txBody>
      </p:sp>
      <p:cxnSp>
        <p:nvCxnSpPr>
          <p:cNvPr id="7" name="Connector 6"/>
          <p:cNvCxnSpPr>
            <a:stCxn id="3" idx="3"/>
            <a:endCxn id="4" idx="1"/>
          </p:cNvCxnSpPr>
          <p:nvPr/>
        </p:nvCxnSpPr>
        <p:spPr>
          <a:xfrm flipV="1">
            <a:off x="2971800" y="2080260"/>
            <a:ext cx="457200" cy="0"/>
          </a:xfrm>
          <a:prstGeom prst="line">
            <a:avLst/>
          </a:prstGeom>
          <a:ln w="28575">
            <a:solidFill>
              <a:srgbClr val="5A627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>
            <a:stCxn id="4" idx="3"/>
            <a:endCxn id="5" idx="1"/>
          </p:cNvCxnSpPr>
          <p:nvPr/>
        </p:nvCxnSpPr>
        <p:spPr>
          <a:xfrm flipV="1">
            <a:off x="5943600" y="2080260"/>
            <a:ext cx="457200" cy="0"/>
          </a:xfrm>
          <a:prstGeom prst="line">
            <a:avLst/>
          </a:prstGeom>
          <a:ln w="28575">
            <a:solidFill>
              <a:srgbClr val="5A627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>
            <a:stCxn id="5" idx="3"/>
            <a:endCxn id="6" idx="1"/>
          </p:cNvCxnSpPr>
          <p:nvPr/>
        </p:nvCxnSpPr>
        <p:spPr>
          <a:xfrm flipV="1">
            <a:off x="8915400" y="2080260"/>
            <a:ext cx="365760" cy="0"/>
          </a:xfrm>
          <a:prstGeom prst="line">
            <a:avLst/>
          </a:prstGeom>
          <a:ln w="28575">
            <a:solidFill>
              <a:srgbClr val="5A627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5120640" y="3794760"/>
            <a:ext cx="3291840" cy="1463040"/>
          </a:xfrm>
          <a:prstGeom prst="roundRect">
            <a:avLst>
              <a:gd name="adj" fmla="val 10000"/>
            </a:avLst>
          </a:prstGeom>
          <a:solidFill>
            <a:srgbClr val="E3F4EA"/>
          </a:solidFill>
          <a:ln w="25400">
            <a:solidFill>
              <a:srgbClr val="1F7A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73152"/>
          <a:lstStyle/>
          <a:p>
            <a:pPr algn="l"/>
            <a:r>
              <a:rPr sz="1500" b="1">
                <a:solidFill>
                  <a:srgbClr val="1F7A4D"/>
                </a:solidFill>
                <a:latin typeface="Calibri"/>
              </a:rPr>
              <a:t>5A. Pruebas aprobadas</a:t>
            </a:r>
          </a:p>
          <a:p>
            <a:pPr algn="l"/>
            <a:r>
              <a:rPr sz="1200">
                <a:solidFill>
                  <a:srgbClr val="1D2330"/>
                </a:solidFill>
                <a:latin typeface="Calibri"/>
              </a:rPr>
              <a:t>checks en verde → revisión del PR</a:t>
            </a:r>
          </a:p>
          <a:p>
            <a:pPr algn="l"/>
            <a:r>
              <a:rPr sz="1200">
                <a:solidFill>
                  <a:srgbClr val="1D2330"/>
                </a:solidFill>
                <a:latin typeface="Calibri"/>
              </a:rPr>
              <a:t>→ merge a develop / main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41080" y="3794760"/>
            <a:ext cx="3108960" cy="1463040"/>
          </a:xfrm>
          <a:prstGeom prst="roundRect">
            <a:avLst>
              <a:gd name="adj" fmla="val 10000"/>
            </a:avLst>
          </a:prstGeom>
          <a:solidFill>
            <a:srgbClr val="FDE8E6"/>
          </a:solidFill>
          <a:ln w="25400">
            <a:solidFill>
              <a:srgbClr val="B423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73152"/>
          <a:lstStyle/>
          <a:p>
            <a:pPr algn="l"/>
            <a:r>
              <a:rPr sz="1500" b="1">
                <a:solidFill>
                  <a:srgbClr val="B42318"/>
                </a:solidFill>
                <a:latin typeface="Calibri"/>
              </a:rPr>
              <a:t>5B. Pruebas fallidas</a:t>
            </a:r>
          </a:p>
          <a:p>
            <a:pPr algn="l"/>
            <a:r>
              <a:rPr sz="1200">
                <a:solidFill>
                  <a:srgbClr val="1D2330"/>
                </a:solidFill>
                <a:latin typeface="Calibri"/>
              </a:rPr>
              <a:t>se notifica el fallo, se revisan</a:t>
            </a:r>
          </a:p>
          <a:p>
            <a:pPr algn="l"/>
            <a:r>
              <a:rPr sz="1200">
                <a:solidFill>
                  <a:srgbClr val="1D2330"/>
                </a:solidFill>
                <a:latin typeface="Calibri"/>
              </a:rPr>
              <a:t>los logs y se corrige el código</a:t>
            </a:r>
          </a:p>
        </p:txBody>
      </p:sp>
      <p:cxnSp>
        <p:nvCxnSpPr>
          <p:cNvPr id="12" name="Connector 11"/>
          <p:cNvCxnSpPr>
            <a:stCxn id="6" idx="2"/>
            <a:endCxn id="10" idx="0"/>
          </p:cNvCxnSpPr>
          <p:nvPr/>
        </p:nvCxnSpPr>
        <p:spPr>
          <a:xfrm flipH="1">
            <a:off x="6766560" y="2788920"/>
            <a:ext cx="3726180" cy="1005840"/>
          </a:xfrm>
          <a:prstGeom prst="line">
            <a:avLst/>
          </a:prstGeom>
          <a:ln w="28575">
            <a:solidFill>
              <a:srgbClr val="1F7A4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>
            <a:stCxn id="6" idx="2"/>
            <a:endCxn id="11" idx="0"/>
          </p:cNvCxnSpPr>
          <p:nvPr/>
        </p:nvCxnSpPr>
        <p:spPr>
          <a:xfrm flipH="1">
            <a:off x="10195560" y="2788920"/>
            <a:ext cx="297180" cy="1005840"/>
          </a:xfrm>
          <a:prstGeom prst="line">
            <a:avLst/>
          </a:prstGeom>
          <a:ln w="28575">
            <a:solidFill>
              <a:srgbClr val="B4231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10195560" y="5257800"/>
            <a:ext cx="0" cy="365760"/>
          </a:xfrm>
          <a:prstGeom prst="line">
            <a:avLst/>
          </a:prstGeom>
          <a:ln w="28575">
            <a:solidFill>
              <a:srgbClr val="B4231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 flipH="1">
            <a:off x="1714500" y="5623560"/>
            <a:ext cx="8481060" cy="0"/>
          </a:xfrm>
          <a:prstGeom prst="line">
            <a:avLst/>
          </a:prstGeom>
          <a:ln w="28575">
            <a:solidFill>
              <a:srgbClr val="B4231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 flipV="1">
            <a:off x="1714500" y="2788920"/>
            <a:ext cx="0" cy="2834640"/>
          </a:xfrm>
          <a:prstGeom prst="line">
            <a:avLst/>
          </a:prstGeom>
          <a:ln w="28575">
            <a:solidFill>
              <a:srgbClr val="B4231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1874519" y="521208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i="1">
                <a:solidFill>
                  <a:srgbClr val="B42318"/>
                </a:solidFill>
                <a:latin typeface="Calibri"/>
              </a:rPr>
              <a:t>el ciclo vuelve al paso 1 hasta que todo pase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1D2330"/>
                </a:solidFill>
                <a:latin typeface="Calibri"/>
              </a:rPr>
              <a:t>Flujo de integración continua</a:t>
            </a:r>
          </a:p>
          <a:p>
            <a:r>
              <a:rPr sz="1400">
                <a:solidFill>
                  <a:srgbClr val="5A6270"/>
                </a:solidFill>
                <a:latin typeface="Calibri"/>
              </a:rPr>
              <a:t>GitHub Actions · .github/workflows/ci.yml · se ejecuta al actualizar el repositorio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65760" y="1600200"/>
            <a:ext cx="1481328" cy="1783080"/>
          </a:xfrm>
          <a:prstGeom prst="roundRect">
            <a:avLst>
              <a:gd name="adj" fmla="val 10000"/>
            </a:avLst>
          </a:prstGeom>
          <a:solidFill>
            <a:srgbClr val="F4F5F7"/>
          </a:solidFill>
          <a:ln w="25400">
            <a:solidFill>
              <a:srgbClr val="5A62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73152"/>
          <a:lstStyle/>
          <a:p>
            <a:pPr algn="l"/>
            <a:r>
              <a:rPr sz="1500" b="1">
                <a:solidFill>
                  <a:srgbClr val="5A6270"/>
                </a:solidFill>
                <a:latin typeface="Calibri"/>
              </a:rPr>
              <a:t>Disparador</a:t>
            </a:r>
          </a:p>
          <a:p>
            <a:pPr algn="l"/>
            <a:r>
              <a:rPr sz="1200">
                <a:solidFill>
                  <a:srgbClr val="1D2330"/>
                </a:solidFill>
                <a:latin typeface="Calibri"/>
              </a:rPr>
              <a:t>push a main, develop,</a:t>
            </a:r>
          </a:p>
          <a:p>
            <a:pPr algn="l"/>
            <a:r>
              <a:rPr sz="1200">
                <a:solidFill>
                  <a:srgbClr val="1D2330"/>
                </a:solidFill>
                <a:latin typeface="Calibri"/>
              </a:rPr>
              <a:t>feature/**, release/**</a:t>
            </a:r>
          </a:p>
          <a:p>
            <a:pPr algn="l"/>
            <a:r>
              <a:rPr sz="1200">
                <a:solidFill>
                  <a:srgbClr val="1D2330"/>
                </a:solidFill>
                <a:latin typeface="Calibri"/>
              </a:rPr>
              <a:t>Pull Request</a:t>
            </a:r>
          </a:p>
          <a:p>
            <a:pPr algn="l"/>
            <a:r>
              <a:rPr sz="1200">
                <a:solidFill>
                  <a:srgbClr val="1D2330"/>
                </a:solidFill>
                <a:latin typeface="Calibri"/>
              </a:rPr>
              <a:t>cron diario 01:00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011680" y="1600200"/>
            <a:ext cx="1481328" cy="1783080"/>
          </a:xfrm>
          <a:prstGeom prst="roundRect">
            <a:avLst>
              <a:gd name="adj" fmla="val 10000"/>
            </a:avLst>
          </a:prstGeom>
          <a:solidFill>
            <a:srgbClr val="E8F0FB"/>
          </a:solidFill>
          <a:ln w="25400">
            <a:solidFill>
              <a:srgbClr val="1F4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73152"/>
          <a:lstStyle/>
          <a:p>
            <a:pPr algn="l"/>
            <a:r>
              <a:rPr sz="1500" b="1">
                <a:solidFill>
                  <a:srgbClr val="1F4E8C"/>
                </a:solidFill>
                <a:latin typeface="Calibri"/>
              </a:rPr>
              <a:t>1. Unitarias</a:t>
            </a:r>
          </a:p>
          <a:p>
            <a:pPr algn="l"/>
            <a:r>
              <a:rPr sz="1200">
                <a:solidFill>
                  <a:srgbClr val="1D2330"/>
                </a:solidFill>
                <a:latin typeface="Calibri"/>
              </a:rPr>
              <a:t>CP-01 a CP-04 y CP-12</a:t>
            </a:r>
          </a:p>
          <a:p>
            <a:pPr algn="l"/>
            <a:r>
              <a:rPr sz="1200">
                <a:solidFill>
                  <a:srgbClr val="1D2330"/>
                </a:solidFill>
                <a:latin typeface="Calibri"/>
              </a:rPr>
              <a:t>PHP 8.2 · 8.3 · 8.4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0" y="1600200"/>
            <a:ext cx="1481328" cy="1783080"/>
          </a:xfrm>
          <a:prstGeom prst="roundRect">
            <a:avLst>
              <a:gd name="adj" fmla="val 10000"/>
            </a:avLst>
          </a:prstGeom>
          <a:solidFill>
            <a:srgbClr val="E8F0FB"/>
          </a:solidFill>
          <a:ln w="25400">
            <a:solidFill>
              <a:srgbClr val="1F4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73152"/>
          <a:lstStyle/>
          <a:p>
            <a:pPr algn="l"/>
            <a:r>
              <a:rPr sz="1500" b="1">
                <a:solidFill>
                  <a:srgbClr val="1F4E8C"/>
                </a:solidFill>
                <a:latin typeface="Calibri"/>
              </a:rPr>
              <a:t>2. Integración</a:t>
            </a:r>
          </a:p>
          <a:p>
            <a:pPr algn="l"/>
            <a:r>
              <a:rPr sz="1200">
                <a:solidFill>
                  <a:srgbClr val="1D2330"/>
                </a:solidFill>
                <a:latin typeface="Calibri"/>
              </a:rPr>
              <a:t>CP-05, CP-06, CP-13 y CP-14</a:t>
            </a:r>
          </a:p>
          <a:p>
            <a:pPr algn="l"/>
            <a:r>
              <a:rPr sz="1200">
                <a:solidFill>
                  <a:srgbClr val="1D2330"/>
                </a:solidFill>
                <a:latin typeface="Calibri"/>
              </a:rPr>
              <a:t>Inventario + archivo JSON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303520" y="1600200"/>
            <a:ext cx="1481328" cy="1783080"/>
          </a:xfrm>
          <a:prstGeom prst="roundRect">
            <a:avLst>
              <a:gd name="adj" fmla="val 10000"/>
            </a:avLst>
          </a:prstGeom>
          <a:solidFill>
            <a:srgbClr val="E8F0FB"/>
          </a:solidFill>
          <a:ln w="25400">
            <a:solidFill>
              <a:srgbClr val="1F4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73152"/>
          <a:lstStyle/>
          <a:p>
            <a:pPr algn="l"/>
            <a:r>
              <a:rPr sz="1500" b="1">
                <a:solidFill>
                  <a:srgbClr val="1F4E8C"/>
                </a:solidFill>
                <a:latin typeface="Calibri"/>
              </a:rPr>
              <a:t>3. Sistema</a:t>
            </a:r>
          </a:p>
          <a:p>
            <a:pPr algn="l"/>
            <a:r>
              <a:rPr sz="1200">
                <a:solidFill>
                  <a:srgbClr val="1D2330"/>
                </a:solidFill>
                <a:latin typeface="Calibri"/>
              </a:rPr>
              <a:t>CP-07, CP-08 y CP-11</a:t>
            </a:r>
          </a:p>
          <a:p>
            <a:pPr algn="l"/>
            <a:r>
              <a:rPr sz="1200">
                <a:solidFill>
                  <a:srgbClr val="1D2330"/>
                </a:solidFill>
                <a:latin typeface="Calibri"/>
              </a:rPr>
              <a:t>php -S + HTTP real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949440" y="1600200"/>
            <a:ext cx="1481328" cy="1783080"/>
          </a:xfrm>
          <a:prstGeom prst="roundRect">
            <a:avLst>
              <a:gd name="adj" fmla="val 10000"/>
            </a:avLst>
          </a:prstGeom>
          <a:solidFill>
            <a:srgbClr val="E8F0FB"/>
          </a:solidFill>
          <a:ln w="25400">
            <a:solidFill>
              <a:srgbClr val="1F4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73152"/>
          <a:lstStyle/>
          <a:p>
            <a:pPr algn="l"/>
            <a:r>
              <a:rPr sz="1500" b="1">
                <a:solidFill>
                  <a:srgbClr val="1F4E8C"/>
                </a:solidFill>
                <a:latin typeface="Calibri"/>
              </a:rPr>
              <a:t>4. Aceptación</a:t>
            </a:r>
          </a:p>
          <a:p>
            <a:pPr algn="l"/>
            <a:r>
              <a:rPr sz="1200">
                <a:solidFill>
                  <a:srgbClr val="1D2330"/>
                </a:solidFill>
                <a:latin typeface="Calibri"/>
              </a:rPr>
              <a:t>CP-09, CP-10 y CP-15</a:t>
            </a:r>
          </a:p>
          <a:p>
            <a:pPr algn="l"/>
            <a:r>
              <a:rPr sz="1200">
                <a:solidFill>
                  <a:srgbClr val="1D2330"/>
                </a:solidFill>
                <a:latin typeface="Calibri"/>
              </a:rPr>
              <a:t>escenarios de la cliente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595360" y="1600200"/>
            <a:ext cx="1481328" cy="1783080"/>
          </a:xfrm>
          <a:prstGeom prst="roundRect">
            <a:avLst>
              <a:gd name="adj" fmla="val 10000"/>
            </a:avLst>
          </a:prstGeom>
          <a:solidFill>
            <a:srgbClr val="E8F0FB"/>
          </a:solidFill>
          <a:ln w="25400">
            <a:solidFill>
              <a:srgbClr val="1F4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73152"/>
          <a:lstStyle/>
          <a:p>
            <a:pPr algn="l"/>
            <a:r>
              <a:rPr sz="1500" b="1">
                <a:solidFill>
                  <a:srgbClr val="1F4E8C"/>
                </a:solidFill>
                <a:latin typeface="Calibri"/>
              </a:rPr>
              <a:t>5. Regresión DEF</a:t>
            </a:r>
          </a:p>
          <a:p>
            <a:pPr algn="l"/>
            <a:r>
              <a:rPr sz="1200">
                <a:solidFill>
                  <a:srgbClr val="1D2330"/>
                </a:solidFill>
                <a:latin typeface="Calibri"/>
              </a:rPr>
              <a:t>inyecta DEF-01 y DEF-02;</a:t>
            </a:r>
          </a:p>
          <a:p>
            <a:pPr algn="l"/>
            <a:r>
              <a:rPr sz="1200">
                <a:solidFill>
                  <a:srgbClr val="1D2330"/>
                </a:solidFill>
                <a:latin typeface="Calibri"/>
              </a:rPr>
              <a:t>las pruebas deben</a:t>
            </a:r>
          </a:p>
          <a:p>
            <a:pPr algn="l"/>
            <a:r>
              <a:rPr sz="1200">
                <a:solidFill>
                  <a:srgbClr val="1D2330"/>
                </a:solidFill>
                <a:latin typeface="Calibri"/>
              </a:rPr>
              <a:t>detectarlos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241280" y="1600200"/>
            <a:ext cx="1481328" cy="1783080"/>
          </a:xfrm>
          <a:prstGeom prst="roundRect">
            <a:avLst>
              <a:gd name="adj" fmla="val 10000"/>
            </a:avLst>
          </a:prstGeom>
          <a:solidFill>
            <a:srgbClr val="E3F4EA"/>
          </a:solidFill>
          <a:ln w="25400">
            <a:solidFill>
              <a:srgbClr val="1F7A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73152"/>
          <a:lstStyle/>
          <a:p>
            <a:pPr algn="l"/>
            <a:r>
              <a:rPr sz="1500" b="1">
                <a:solidFill>
                  <a:srgbClr val="1F7A4D"/>
                </a:solidFill>
                <a:latin typeface="Calibri"/>
              </a:rPr>
              <a:t>PR integrable</a:t>
            </a:r>
          </a:p>
          <a:p>
            <a:pPr algn="l"/>
            <a:r>
              <a:rPr sz="1200">
                <a:solidFill>
                  <a:srgbClr val="1D2330"/>
                </a:solidFill>
                <a:latin typeface="Calibri"/>
              </a:rPr>
              <a:t>todos los checks en verde</a:t>
            </a:r>
          </a:p>
          <a:p>
            <a:pPr algn="l"/>
            <a:r>
              <a:rPr sz="1200">
                <a:solidFill>
                  <a:srgbClr val="1D2330"/>
                </a:solidFill>
                <a:latin typeface="Calibri"/>
              </a:rPr>
              <a:t>→ merge a develop / main</a:t>
            </a:r>
          </a:p>
        </p:txBody>
      </p:sp>
      <p:cxnSp>
        <p:nvCxnSpPr>
          <p:cNvPr id="10" name="Connector 9"/>
          <p:cNvCxnSpPr>
            <a:stCxn id="3" idx="3"/>
            <a:endCxn id="4" idx="1"/>
          </p:cNvCxnSpPr>
          <p:nvPr/>
        </p:nvCxnSpPr>
        <p:spPr>
          <a:xfrm flipV="1">
            <a:off x="1847088" y="2491740"/>
            <a:ext cx="164592" cy="0"/>
          </a:xfrm>
          <a:prstGeom prst="line">
            <a:avLst/>
          </a:prstGeom>
          <a:ln w="28575">
            <a:solidFill>
              <a:srgbClr val="5A627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>
            <a:stCxn id="4" idx="3"/>
            <a:endCxn id="5" idx="1"/>
          </p:cNvCxnSpPr>
          <p:nvPr/>
        </p:nvCxnSpPr>
        <p:spPr>
          <a:xfrm flipV="1">
            <a:off x="3493008" y="2491740"/>
            <a:ext cx="164592" cy="0"/>
          </a:xfrm>
          <a:prstGeom prst="line">
            <a:avLst/>
          </a:prstGeom>
          <a:ln w="28575">
            <a:solidFill>
              <a:srgbClr val="5A627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>
            <a:stCxn id="5" idx="3"/>
            <a:endCxn id="6" idx="1"/>
          </p:cNvCxnSpPr>
          <p:nvPr/>
        </p:nvCxnSpPr>
        <p:spPr>
          <a:xfrm flipV="1">
            <a:off x="5138928" y="2491740"/>
            <a:ext cx="164592" cy="0"/>
          </a:xfrm>
          <a:prstGeom prst="line">
            <a:avLst/>
          </a:prstGeom>
          <a:ln w="28575">
            <a:solidFill>
              <a:srgbClr val="5A627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>
            <a:stCxn id="6" idx="3"/>
            <a:endCxn id="7" idx="1"/>
          </p:cNvCxnSpPr>
          <p:nvPr/>
        </p:nvCxnSpPr>
        <p:spPr>
          <a:xfrm flipV="1">
            <a:off x="6784848" y="2491740"/>
            <a:ext cx="164592" cy="0"/>
          </a:xfrm>
          <a:prstGeom prst="line">
            <a:avLst/>
          </a:prstGeom>
          <a:ln w="28575">
            <a:solidFill>
              <a:srgbClr val="5A627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>
            <a:stCxn id="7" idx="3"/>
            <a:endCxn id="8" idx="1"/>
          </p:cNvCxnSpPr>
          <p:nvPr/>
        </p:nvCxnSpPr>
        <p:spPr>
          <a:xfrm flipV="1">
            <a:off x="8430768" y="2491740"/>
            <a:ext cx="164592" cy="0"/>
          </a:xfrm>
          <a:prstGeom prst="line">
            <a:avLst/>
          </a:prstGeom>
          <a:ln w="28575">
            <a:solidFill>
              <a:srgbClr val="5A627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>
            <a:stCxn id="8" idx="3"/>
            <a:endCxn id="9" idx="1"/>
          </p:cNvCxnSpPr>
          <p:nvPr/>
        </p:nvCxnSpPr>
        <p:spPr>
          <a:xfrm flipV="1">
            <a:off x="10076688" y="2491740"/>
            <a:ext cx="164592" cy="0"/>
          </a:xfrm>
          <a:prstGeom prst="line">
            <a:avLst/>
          </a:prstGeom>
          <a:ln w="28575">
            <a:solidFill>
              <a:srgbClr val="5A627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2752344" y="3383280"/>
            <a:ext cx="0" cy="457200"/>
          </a:xfrm>
          <a:prstGeom prst="line">
            <a:avLst/>
          </a:prstGeom>
          <a:ln w="28575">
            <a:solidFill>
              <a:srgbClr val="5A62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4398264" y="3383280"/>
            <a:ext cx="0" cy="457200"/>
          </a:xfrm>
          <a:prstGeom prst="line">
            <a:avLst/>
          </a:prstGeom>
          <a:ln w="28575">
            <a:solidFill>
              <a:srgbClr val="5A62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6044184" y="3383280"/>
            <a:ext cx="0" cy="457200"/>
          </a:xfrm>
          <a:prstGeom prst="line">
            <a:avLst/>
          </a:prstGeom>
          <a:ln w="28575">
            <a:solidFill>
              <a:srgbClr val="5A62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7690104" y="3383280"/>
            <a:ext cx="0" cy="457200"/>
          </a:xfrm>
          <a:prstGeom prst="line">
            <a:avLst/>
          </a:prstGeom>
          <a:ln w="28575">
            <a:solidFill>
              <a:srgbClr val="5A62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2752344" y="3840480"/>
            <a:ext cx="4937760" cy="0"/>
          </a:xfrm>
          <a:prstGeom prst="line">
            <a:avLst/>
          </a:prstGeom>
          <a:ln w="28575">
            <a:solidFill>
              <a:srgbClr val="5A62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221224" y="3840480"/>
            <a:ext cx="0" cy="457200"/>
          </a:xfrm>
          <a:prstGeom prst="line">
            <a:avLst/>
          </a:prstGeom>
          <a:ln w="28575">
            <a:solidFill>
              <a:srgbClr val="5A627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2203704" y="4315968"/>
            <a:ext cx="6035040" cy="1143000"/>
          </a:xfrm>
          <a:prstGeom prst="roundRect">
            <a:avLst>
              <a:gd name="adj" fmla="val 10000"/>
            </a:avLst>
          </a:prstGeom>
          <a:solidFill>
            <a:srgbClr val="F4F5F7"/>
          </a:solidFill>
          <a:ln w="25400">
            <a:solidFill>
              <a:srgbClr val="5A62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73152"/>
          <a:lstStyle/>
          <a:p>
            <a:pPr algn="l"/>
            <a:r>
              <a:rPr sz="1500" b="1">
                <a:solidFill>
                  <a:srgbClr val="5A6270"/>
                </a:solidFill>
                <a:latin typeface="Calibri"/>
              </a:rPr>
              <a:t>Reporte de resultados (siempre se ejecuta)</a:t>
            </a:r>
          </a:p>
          <a:p>
            <a:pPr algn="l"/>
            <a:r>
              <a:rPr sz="1200">
                <a:solidFill>
                  <a:srgbClr val="1D2330"/>
                </a:solidFill>
                <a:latin typeface="Calibri"/>
              </a:rPr>
              <a:t>Junta los junit-*.xml de cada nivel, publica la tabla en el resumen del job</a:t>
            </a:r>
          </a:p>
          <a:p>
            <a:pPr algn="l"/>
            <a:r>
              <a:rPr sz="1200">
                <a:solidFill>
                  <a:srgbClr val="1D2330"/>
                </a:solidFill>
                <a:latin typeface="Calibri"/>
              </a:rPr>
              <a:t>y sube el artefacto «evidencia-pruebas» (reporte HTML, JSON y JUnit).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915400" y="4315968"/>
            <a:ext cx="2880360" cy="1143000"/>
          </a:xfrm>
          <a:prstGeom prst="roundRect">
            <a:avLst>
              <a:gd name="adj" fmla="val 10000"/>
            </a:avLst>
          </a:prstGeom>
          <a:solidFill>
            <a:srgbClr val="FDE8E6"/>
          </a:solidFill>
          <a:ln w="25400">
            <a:solidFill>
              <a:srgbClr val="B423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73152"/>
          <a:lstStyle/>
          <a:p>
            <a:pPr algn="l"/>
            <a:r>
              <a:rPr sz="1500" b="1">
                <a:solidFill>
                  <a:srgbClr val="B42318"/>
                </a:solidFill>
                <a:latin typeface="Calibri"/>
              </a:rPr>
              <a:t>Si un nivel falla</a:t>
            </a:r>
          </a:p>
          <a:p>
            <a:pPr algn="l"/>
            <a:r>
              <a:rPr sz="1200">
                <a:solidFill>
                  <a:srgbClr val="1D2330"/>
                </a:solidFill>
                <a:latin typeface="Calibri"/>
              </a:rPr>
              <a:t>los siguientes no se ejecutan</a:t>
            </a:r>
          </a:p>
          <a:p>
            <a:pPr algn="l"/>
            <a:r>
              <a:rPr sz="1200">
                <a:solidFill>
                  <a:srgbClr val="1D2330"/>
                </a:solidFill>
                <a:latin typeface="Calibri"/>
              </a:rPr>
              <a:t>y el Pull Request se bloquea.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1D2330"/>
                </a:solidFill>
                <a:latin typeface="Calibri"/>
              </a:rPr>
              <a:t>Casos de prueba por nivel</a:t>
            </a:r>
          </a:p>
          <a:p>
            <a:r>
              <a:rPr sz="1400">
                <a:solidFill>
                  <a:srgbClr val="5A6270"/>
                </a:solidFill>
                <a:latin typeface="Calibri"/>
              </a:rPr>
              <a:t>15 casos en total; cada nivel tiene su propia suite de PHPUnit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731520" y="1371600"/>
          <a:ext cx="10698480" cy="48463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1D2330"/>
                </a:solidFill>
                <a:latin typeface="Calibri"/>
              </a:rPr>
              <a:t>Casos de prueba que cubren cada requisito</a:t>
            </a:r>
          </a:p>
          <a:p>
            <a:r>
              <a:rPr sz="1400">
                <a:solidFill>
                  <a:srgbClr val="5A6270"/>
                </a:solidFill>
                <a:latin typeface="Calibri"/>
              </a:rPr>
              <a:t>Un caso puede cubrir más de un requisito: CP-15 recorre los cinco, de RF-01 a RF-05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731520" y="1371600"/>
          <a:ext cx="10698480" cy="48463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1D2330"/>
                </a:solidFill>
                <a:latin typeface="Calibri"/>
              </a:rPr>
              <a:t>Tiempo de ejecución por nivel (ronda 1)</a:t>
            </a:r>
          </a:p>
          <a:p>
            <a:r>
              <a:rPr sz="1400">
                <a:solidFill>
                  <a:srgbClr val="5A6270"/>
                </a:solidFill>
                <a:latin typeface="Calibri"/>
              </a:rPr>
              <a:t>Suma del tiempo de los casos de cada nivel · total de la ronda: 5.257 s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731520" y="1371600"/>
          <a:ext cx="10698480" cy="48463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Diagramas - Segunda parte</dc:title>
  <dc:subject/>
  <dc:creator>Equipo Sistema de Inventario</dc:creator>
  <cp:keywords/>
  <dc:description/>
  <cp:lastModifiedBy>Equipo Sistema de Inventario</cp:lastModifiedBy>
  <cp:revision>1</cp:revision>
  <dcterms:created xsi:type="dcterms:W3CDTF">2026-11-01T04:50:42Z</dcterms:created>
  <dcterms:modified xsi:type="dcterms:W3CDTF">2013-01-27T09:15:58Z</dcterms:modified>
  <cp:category/>
</cp:coreProperties>
</file>