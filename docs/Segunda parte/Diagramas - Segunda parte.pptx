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Aprobación</c:v>
                </c:pt>
              </c:strCache>
            </c:strRef>
          </c:tx>
          <c:spPr>
            <a:solidFill>
              <a:srgbClr val="1F4E8C"/>
            </a:solidFill>
          </c:spPr>
          <c:cat>
            <c:strRef>
              <c:f>Sheet1!$A$2:$A$5</c:f>
              <c:strCache>
                <c:ptCount val="4"/>
                <c:pt idx="0">
                  <c:v>Ronda 1 · código actual</c:v>
                </c:pt>
                <c:pt idx="1">
                  <c:v>Ronda 2 · con DEF-01</c:v>
                </c:pt>
                <c:pt idx="2">
                  <c:v>Ronda 3 · con DEF-02</c:v>
                </c:pt>
                <c:pt idx="3">
                  <c:v>Ronda 4 · código corregido</c:v>
                </c:pt>
              </c:strCache>
            </c:strRef>
          </c:cat>
          <c:val>
            <c:numRef>
              <c:f>Sheet1!$B$2:$B$5</c:f>
              <c:numCache>
                <c:formatCode>0 %</c:formatCode>
                <c:ptCount val="4"/>
                <c:pt idx="0">
                  <c:v>1.0</c:v>
                </c:pt>
                <c:pt idx="1">
                  <c:v>0.7</c:v>
                </c:pt>
                <c:pt idx="2">
                  <c:v>0.9</c:v>
                </c:pt>
                <c:pt idx="3">
                  <c:v>1.0</c:v>
                </c:pt>
              </c:numCache>
            </c:numRef>
          </c:val>
        </c:ser>
        <c:dLbls>
          <c:numFmt formatCode="0 %" sourceLinked="0"/>
          <c:txPr>
            <a:bodyPr/>
            <a:lstStyle/>
            <a:p>
              <a:pPr>
                <a:defRPr sz="14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9AA1AD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>
          <c:spPr>
            <a:ln>
              <a:solidFill>
                <a:srgbClr val="E3E6EB"/>
              </a:solidFill>
            </a:ln>
          </c:spPr>
        </c:majorGridlines>
        <c:numFmt formatCode="0 %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  <c:majorUnit val="0.25"/>
      </c:valAx>
    </c:plotArea>
    <c:dispBlanksAs val="gap"/>
  </c:chart>
  <c:txPr>
    <a:bodyPr/>
    <a:lstStyle/>
    <a:p>
      <a:pPr>
        <a:defRPr sz="1300"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D2330"/>
                </a:solidFill>
                <a:latin typeface="Calibri"/>
              </a:rPr>
              <a:t>Clasificación de los casos de prueba</a:t>
            </a:r>
          </a:p>
          <a:p>
            <a:r>
              <a:rPr sz="1400">
                <a:solidFill>
                  <a:srgbClr val="5A6270"/>
                </a:solidFill>
                <a:latin typeface="Calibri"/>
              </a:rPr>
              <a:t>10 casos automatizados con PHPUnit, una carpeta por nivel en tests/</a:t>
            </a:r>
          </a:p>
        </p:txBody>
      </p:sp>
      <p:sp>
        <p:nvSpPr>
          <p:cNvPr id="3" name="Rectangle 2"/>
          <p:cNvSpPr/>
          <p:nvPr/>
        </p:nvSpPr>
        <p:spPr>
          <a:xfrm>
            <a:off x="3992727" y="1417320"/>
            <a:ext cx="4206240" cy="1005840"/>
          </a:xfrm>
          <a:prstGeom prst="rect">
            <a:avLst/>
          </a:prstGeom>
          <a:solidFill>
            <a:srgbClr val="E3F4EA"/>
          </a:solidFill>
          <a:ln w="25400">
            <a:solidFill>
              <a:srgbClr val="1F7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600" b="1">
                <a:solidFill>
                  <a:srgbClr val="1F7A4D"/>
                </a:solidFill>
                <a:latin typeface="Calibri"/>
              </a:rPr>
              <a:t>Aceptación · CP-09, CP-10</a:t>
            </a:r>
          </a:p>
          <a:p>
            <a:pPr algn="l"/>
            <a:r>
              <a:rPr sz="1300">
                <a:solidFill>
                  <a:srgbClr val="1D2330"/>
                </a:solidFill>
                <a:latin typeface="Calibri"/>
              </a:rPr>
              <a:t>Escenarios de la cliente (Dado / Cuando / Entonces) contra el sistema en ejecución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3169767" y="2606040"/>
            <a:ext cx="5852160" cy="1005840"/>
          </a:xfrm>
          <a:prstGeom prst="rect">
            <a:avLst/>
          </a:prstGeom>
          <a:solidFill>
            <a:srgbClr val="E8F0FB"/>
          </a:solidFill>
          <a:ln w="25400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600" b="1">
                <a:solidFill>
                  <a:srgbClr val="1F4E8C"/>
                </a:solidFill>
                <a:latin typeface="Calibri"/>
              </a:rPr>
              <a:t>Sistema · CP-07, CP-08</a:t>
            </a:r>
          </a:p>
          <a:p>
            <a:pPr algn="l"/>
            <a:r>
              <a:rPr sz="1300">
                <a:solidFill>
                  <a:srgbClr val="1D2330"/>
                </a:solidFill>
                <a:latin typeface="Calibri"/>
              </a:rPr>
              <a:t>Aplicación completa por HTTP: servidor php -S, API y archivo de datos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2346807" y="3794760"/>
            <a:ext cx="7498079" cy="1005840"/>
          </a:xfrm>
          <a:prstGeom prst="rect">
            <a:avLst/>
          </a:prstGeom>
          <a:solidFill>
            <a:srgbClr val="E8F0FB"/>
          </a:solidFill>
          <a:ln w="25400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600" b="1">
                <a:solidFill>
                  <a:srgbClr val="1F4E8C"/>
                </a:solidFill>
                <a:latin typeface="Calibri"/>
              </a:rPr>
              <a:t>Integración · CP-05, CP-06</a:t>
            </a:r>
          </a:p>
          <a:p>
            <a:pPr algn="l"/>
            <a:r>
              <a:rPr sz="1300">
                <a:solidFill>
                  <a:srgbClr val="1D2330"/>
                </a:solidFill>
                <a:latin typeface="Calibri"/>
              </a:rPr>
              <a:t>Inventario + RepositorioInventario + archivo JSON trabajando juntos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1523847" y="4983480"/>
            <a:ext cx="9144000" cy="1005840"/>
          </a:xfrm>
          <a:prstGeom prst="rect">
            <a:avLst/>
          </a:prstGeom>
          <a:solidFill>
            <a:srgbClr val="F4F5F7"/>
          </a:solidFill>
          <a:ln w="25400">
            <a:solidFill>
              <a:srgbClr val="5A62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600" b="1">
                <a:solidFill>
                  <a:srgbClr val="5A6270"/>
                </a:solidFill>
                <a:latin typeface="Calibri"/>
              </a:rPr>
              <a:t>Unitarias · CP-01 a CP-04</a:t>
            </a:r>
          </a:p>
          <a:p>
            <a:pPr algn="l"/>
            <a:r>
              <a:rPr sz="1300">
                <a:solidFill>
                  <a:srgbClr val="1D2330"/>
                </a:solidFill>
                <a:latin typeface="Calibri"/>
              </a:rPr>
              <a:t>Clases Inventario y Producto aisladas, en memoria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0">
                <a:solidFill>
                  <a:srgbClr val="5A6270"/>
                </a:solidFill>
                <a:latin typeface="Calibri"/>
              </a:rPr>
              <a:t>Más arriba: más cerca de lo que usa la cliente y más lento (≈ 0.9 s por caso). Más abajo: más rápido (milisegundos) y más preciso para ubicar el error.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D2330"/>
                </a:solidFill>
                <a:latin typeface="Calibri"/>
              </a:rPr>
              <a:t>Matriz RACI de las pruebas</a:t>
            </a:r>
          </a:p>
          <a:p>
            <a:r>
              <a:rPr sz="1400">
                <a:solidFill>
                  <a:srgbClr val="5A6270"/>
                </a:solidFill>
                <a:latin typeface="Calibri"/>
              </a:rPr>
              <a:t>Quién realiza, aprueba, es consultado o informado en cada actividad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25880"/>
          <a:ext cx="11064240" cy="4398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1371600"/>
                <a:gridCol w="1371600"/>
                <a:gridCol w="1371600"/>
                <a:gridCol w="1371600"/>
                <a:gridCol w="1371600"/>
              </a:tblGrid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Actividad</a:t>
                      </a:r>
                    </a:p>
                  </a:txBody>
                  <a:tcPr marL="54864" marR="54864" marT="27432" marB="27432"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Emily
Gestora</a:t>
                      </a:r>
                    </a:p>
                  </a:txBody>
                  <a:tcPr marL="54864" marR="54864" marT="27432" marB="27432"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Chuina
Analista/QA</a:t>
                      </a:r>
                    </a:p>
                  </a:txBody>
                  <a:tcPr marL="54864" marR="54864" marT="27432" marB="27432"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Pablo
Dev/DevOps</a:t>
                      </a:r>
                    </a:p>
                  </a:txBody>
                  <a:tcPr marL="54864" marR="54864" marT="27432" marB="27432"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Emmanuel
Diseñador</a:t>
                      </a:r>
                    </a:p>
                  </a:txBody>
                  <a:tcPr marL="54864" marR="54864" marT="27432" marB="27432"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Ana
Cliente</a:t>
                      </a:r>
                    </a:p>
                  </a:txBody>
                  <a:tcPr marL="54864" marR="54864" marT="27432" marB="27432" anchor="ctr">
                    <a:solidFill>
                      <a:srgbClr val="1F4E8C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D2330"/>
                          </a:solidFill>
                          <a:latin typeface="Calibri"/>
                        </a:rPr>
                        <a:t>Redactar los requisitos funcionales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330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54864" marR="54864" marT="27432" marB="27432" anchor="ctr">
                    <a:solidFill>
                      <a:srgbClr val="E3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330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L="54864" marR="54864" marT="27432" marB="27432" anchor="ctr"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330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54864" marR="54864" marT="27432" marB="27432" anchor="ctr"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330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330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54864" marR="54864" marT="27432" marB="27432" anchor="ctr">
                    <a:solidFill>
                      <a:srgbClr val="FFF4D6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D2330"/>
                          </a:solidFill>
                          <a:latin typeface="Calibri"/>
                        </a:rPr>
                        <a:t>Elaborar el plan de pruebas</a:t>
                      </a:r>
                    </a:p>
                  </a:txBody>
                  <a:tcPr marL="54864" marR="54864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330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54864" marR="54864" marT="27432" marB="27432" anchor="ctr">
                    <a:solidFill>
                      <a:srgbClr val="E3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330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L="54864" marR="54864" marT="27432" marB="27432" anchor="ctr"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330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54864" marR="54864" marT="27432" marB="27432" anchor="ctr"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330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54864" marR="54864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330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54864" marR="54864" marT="27432" marB="27432" anchor="ctr">
                    <a:solidFill>
                      <a:srgbClr val="F4F5F7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D2330"/>
                          </a:solidFill>
                          <a:latin typeface="Calibri"/>
                        </a:rPr>
                        <a:t>Diseñar los casos de prueba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330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54864" marR="54864" marT="27432" marB="27432" anchor="ctr">
                    <a:solidFill>
                      <a:srgbClr val="E3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330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L="54864" marR="54864" marT="27432" marB="27432" anchor="ctr"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330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54864" marR="54864" marT="27432" marB="27432" anchor="ctr"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330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330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54864" marR="54864" marT="27432" marB="27432" anchor="ctr">
                    <a:solidFill>
                      <a:srgbClr val="FFF4D6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D2330"/>
                          </a:solidFill>
                          <a:latin typeface="Calibri"/>
                        </a:rPr>
                        <a:t>Automatizar las pruebas</a:t>
                      </a:r>
                    </a:p>
                  </a:txBody>
                  <a:tcPr marL="54864" marR="54864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330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54864" marR="54864" marT="27432" marB="27432" anchor="ctr">
                    <a:solidFill>
                      <a:srgbClr val="E3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330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54864" marR="54864" marT="27432" marB="27432" anchor="ctr"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330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L="54864" marR="54864" marT="27432" marB="27432" anchor="ctr"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330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54864" marR="54864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330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54864" marR="54864" marT="27432" marB="27432" anchor="ctr">
                    <a:solidFill>
                      <a:srgbClr val="F4F5F7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D2330"/>
                          </a:solidFill>
                          <a:latin typeface="Calibri"/>
                        </a:rPr>
                        <a:t>Ejecutar las pruebas y registrar resultados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330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54864" marR="54864" marT="27432" marB="27432" anchor="ctr">
                    <a:solidFill>
                      <a:srgbClr val="E3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330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L="54864" marR="54864" marT="27432" marB="27432" anchor="ctr"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330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330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330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D2330"/>
                          </a:solidFill>
                          <a:latin typeface="Calibri"/>
                        </a:rPr>
                        <a:t>Registrar y priorizar defectos</a:t>
                      </a:r>
                    </a:p>
                  </a:txBody>
                  <a:tcPr marL="54864" marR="54864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330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54864" marR="54864" marT="27432" marB="27432" anchor="ctr">
                    <a:solidFill>
                      <a:srgbClr val="E3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330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L="54864" marR="54864" marT="27432" marB="27432" anchor="ctr"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330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54864" marR="54864" marT="27432" marB="27432" anchor="ctr"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330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54864" marR="54864" marT="27432" marB="27432" anchor="ctr"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330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54864" marR="54864" marT="27432" marB="27432" anchor="ctr">
                    <a:solidFill>
                      <a:srgbClr val="F4F5F7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D2330"/>
                          </a:solidFill>
                          <a:latin typeface="Calibri"/>
                        </a:rPr>
                        <a:t>Corregir defectos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330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54864" marR="54864" marT="27432" marB="27432" anchor="ctr">
                    <a:solidFill>
                      <a:srgbClr val="E3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330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54864" marR="54864" marT="27432" marB="27432" anchor="ctr"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330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L="54864" marR="54864" marT="27432" marB="27432" anchor="ctr"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330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330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D2330"/>
                          </a:solidFill>
                          <a:latin typeface="Calibri"/>
                        </a:rPr>
                        <a:t>Repetir pruebas y regresión</a:t>
                      </a:r>
                    </a:p>
                  </a:txBody>
                  <a:tcPr marL="54864" marR="54864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330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54864" marR="54864" marT="27432" marB="27432" anchor="ctr">
                    <a:solidFill>
                      <a:srgbClr val="E3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330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L="54864" marR="54864" marT="27432" marB="27432" anchor="ctr"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330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54864" marR="54864" marT="27432" marB="27432" anchor="ctr"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330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54864" marR="54864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330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54864" marR="54864" marT="27432" marB="27432" anchor="ctr">
                    <a:solidFill>
                      <a:srgbClr val="F4F5F7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D2330"/>
                          </a:solidFill>
                          <a:latin typeface="Calibri"/>
                        </a:rPr>
                        <a:t>Configurar el CI y la protección de ramas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330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54864" marR="54864" marT="27432" marB="27432" anchor="ctr">
                    <a:solidFill>
                      <a:srgbClr val="E3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330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330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L="54864" marR="54864" marT="27432" marB="27432" anchor="ctr"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330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330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D2330"/>
                          </a:solidFill>
                          <a:latin typeface="Calibri"/>
                        </a:rPr>
                        <a:t>Revisar los mensajes de error</a:t>
                      </a:r>
                    </a:p>
                  </a:txBody>
                  <a:tcPr marL="54864" marR="54864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330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54864" marR="54864" marT="27432" marB="27432" anchor="ctr">
                    <a:solidFill>
                      <a:srgbClr val="E3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330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54864" marR="54864" marT="27432" marB="27432" anchor="ctr"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330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54864" marR="54864" marT="27432" marB="27432" anchor="ctr"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330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L="54864" marR="54864" marT="27432" marB="27432" anchor="ctr"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330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54864" marR="54864" marT="27432" marB="27432" anchor="ctr">
                    <a:solidFill>
                      <a:srgbClr val="F4F5F7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D2330"/>
                          </a:solidFill>
                          <a:latin typeface="Calibri"/>
                        </a:rPr>
                        <a:t>Validar los escenarios de aceptación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330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330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L="54864" marR="54864" marT="27432" marB="27432" anchor="ctr"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330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330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330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54864" marR="54864" marT="27432" marB="27432" anchor="ctr">
                    <a:solidFill>
                      <a:srgbClr val="E3F4E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D2330"/>
                          </a:solidFill>
                          <a:latin typeface="Calibri"/>
                        </a:rPr>
                        <a:t>Aprobar el Pull Request e integrar</a:t>
                      </a:r>
                    </a:p>
                  </a:txBody>
                  <a:tcPr marL="54864" marR="54864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330"/>
                          </a:solidFill>
                          <a:latin typeface="Calibri"/>
                        </a:rPr>
                        <a:t>R/A</a:t>
                      </a:r>
                    </a:p>
                  </a:txBody>
                  <a:tcPr marL="54864" marR="54864" marT="27432" marB="27432" anchor="ctr">
                    <a:solidFill>
                      <a:srgbClr val="E3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330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54864" marR="54864" marT="27432" marB="27432" anchor="ctr"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330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54864" marR="54864" marT="27432" marB="27432" anchor="ctr"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330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54864" marR="54864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2330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54864" marR="54864" marT="27432" marB="27432" anchor="ctr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0">
                <a:solidFill>
                  <a:srgbClr val="5A6270"/>
                </a:solidFill>
                <a:latin typeface="Calibri"/>
              </a:rPr>
              <a:t>R = Responsable (realiza la actividad) · A = Aprueba y rinde cuentas (una sola persona por actividad) · C = Consultado antes de decidir · I = Informado del resultado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D2330"/>
                </a:solidFill>
                <a:latin typeface="Calibri"/>
              </a:rPr>
              <a:t>Matriz de trazabilidad</a:t>
            </a:r>
          </a:p>
          <a:p>
            <a:r>
              <a:rPr sz="1400">
                <a:solidFill>
                  <a:srgbClr val="5A6270"/>
                </a:solidFill>
                <a:latin typeface="Calibri"/>
              </a:rPr>
              <a:t>Cada requisito funcional queda cubierto por al menos un caso de prueba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642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Requisito</a:t>
                      </a:r>
                    </a:p>
                  </a:txBody>
                  <a:tcPr marL="54864" marR="54864" marT="27432" marB="27432"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CP-01</a:t>
                      </a:r>
                    </a:p>
                  </a:txBody>
                  <a:tcPr marL="54864" marR="54864" marT="27432" marB="27432"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CP-02</a:t>
                      </a:r>
                    </a:p>
                  </a:txBody>
                  <a:tcPr marL="54864" marR="54864" marT="27432" marB="27432"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CP-03</a:t>
                      </a:r>
                    </a:p>
                  </a:txBody>
                  <a:tcPr marL="54864" marR="54864" marT="27432" marB="27432"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CP-04</a:t>
                      </a:r>
                    </a:p>
                  </a:txBody>
                  <a:tcPr marL="54864" marR="54864" marT="27432" marB="27432"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CP-05</a:t>
                      </a:r>
                    </a:p>
                  </a:txBody>
                  <a:tcPr marL="54864" marR="54864" marT="27432" marB="27432"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CP-06</a:t>
                      </a:r>
                    </a:p>
                  </a:txBody>
                  <a:tcPr marL="54864" marR="54864" marT="27432" marB="27432"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CP-07</a:t>
                      </a:r>
                    </a:p>
                  </a:txBody>
                  <a:tcPr marL="54864" marR="54864" marT="27432" marB="27432"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CP-08</a:t>
                      </a:r>
                    </a:p>
                  </a:txBody>
                  <a:tcPr marL="54864" marR="54864" marT="27432" marB="27432"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CP-09</a:t>
                      </a:r>
                    </a:p>
                  </a:txBody>
                  <a:tcPr marL="54864" marR="54864" marT="27432" marB="27432"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CP-10</a:t>
                      </a:r>
                    </a:p>
                  </a:txBody>
                  <a:tcPr marL="54864" marR="54864" marT="27432" marB="27432" anchor="ctr">
                    <a:solidFill>
                      <a:srgbClr val="1F4E8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D2330"/>
                          </a:solidFill>
                          <a:latin typeface="Calibri"/>
                        </a:rPr>
                        <a:t>RF-01 · Registrar productos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D2330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54864" marR="54864" marT="27432" marB="27432" anchor="ctr"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D2330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54864" marR="54864" marT="27432" marB="27432" anchor="ctr"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D233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D233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D233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D233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D2330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54864" marR="54864" marT="27432" marB="27432" anchor="ctr"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D233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D233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D233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D2330"/>
                          </a:solidFill>
                          <a:latin typeface="Calibri"/>
                        </a:rPr>
                        <a:t>RF-02 · Consultar existencias</a:t>
                      </a:r>
                    </a:p>
                  </a:txBody>
                  <a:tcPr marL="54864" marR="54864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D233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D233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D233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D233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D2330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54864" marR="54864" marT="27432" marB="27432" anchor="ctr"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D233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D2330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54864" marR="54864" marT="27432" marB="27432" anchor="ctr"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D233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D233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D2330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54864" marR="54864" marT="27432" marB="27432" anchor="ctr">
                    <a:solidFill>
                      <a:srgbClr val="E8F0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D2330"/>
                          </a:solidFill>
                          <a:latin typeface="Calibri"/>
                        </a:rPr>
                        <a:t>RF-03 · Registrar ventas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D233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D233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D2330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54864" marR="54864" marT="27432" marB="27432" anchor="ctr"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D2330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54864" marR="54864" marT="27432" marB="27432" anchor="ctr"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D2330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54864" marR="54864" marT="27432" marB="27432" anchor="ctr"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D2330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54864" marR="54864" marT="27432" marB="27432" anchor="ctr"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D2330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54864" marR="54864" marT="27432" marB="27432" anchor="ctr"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D2330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54864" marR="54864" marT="27432" marB="27432" anchor="ctr"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D233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D233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D2330"/>
                          </a:solidFill>
                          <a:latin typeface="Calibri"/>
                        </a:rPr>
                        <a:t>RF-04 · Registrar entradas</a:t>
                      </a:r>
                    </a:p>
                  </a:txBody>
                  <a:tcPr marL="54864" marR="54864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D233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D233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D233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D233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D233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D233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D233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D233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D233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D2330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54864" marR="54864" marT="27432" marB="27432" anchor="ctr">
                    <a:solidFill>
                      <a:srgbClr val="E8F0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D2330"/>
                          </a:solidFill>
                          <a:latin typeface="Calibri"/>
                        </a:rPr>
                        <a:t>RF-05 · Reporte y resurtido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D233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D233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D233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D233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D233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D233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D233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D233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D2330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54864" marR="54864" marT="27432" marB="27432" anchor="ctr"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D233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7548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0">
                <a:solidFill>
                  <a:srgbClr val="5A6270"/>
                </a:solidFill>
                <a:latin typeface="Calibri"/>
              </a:rPr>
              <a:t>Unitarias: CP-01 a CP-04 · Integración: CP-05 y CP-06 · Sistema: CP-07 y CP-08 · Aceptación: CP-09 y CP-10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D2330"/>
                </a:solidFill>
                <a:latin typeface="Calibri"/>
              </a:rPr>
              <a:t>Porcentaje de casos aprobados por ronda</a:t>
            </a:r>
          </a:p>
          <a:p>
            <a:r>
              <a:rPr sz="1400">
                <a:solidFill>
                  <a:srgbClr val="5A6270"/>
                </a:solidFill>
                <a:latin typeface="Calibri"/>
              </a:rPr>
              <a:t>Aprobación = pruebas aprobadas / pruebas ejecutadas × 100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371600"/>
          <a:ext cx="1069848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0">
                <a:solidFill>
                  <a:srgbClr val="5A6270"/>
                </a:solidFill>
                <a:latin typeface="Calibri"/>
              </a:rPr>
              <a:t>Ronda 1 · código actual: 10 de 10  ·  Ronda 2 · con DEF-01: 7 de 10  ·  Ronda 3 · con DEF-02: 9 de 10  ·  Ronda 4 · código corregido: 10 de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D2330"/>
                </a:solidFill>
                <a:latin typeface="Calibri"/>
              </a:rPr>
              <a:t>Repetición de las pruebas al corregir un defecto</a:t>
            </a:r>
          </a:p>
          <a:p>
            <a:r>
              <a:rPr sz="1400">
                <a:solidFill>
                  <a:srgbClr val="5A6270"/>
                </a:solidFill>
                <a:latin typeface="Calibri"/>
              </a:rPr>
              <a:t>Ciclo que sigue cada defecto (DEF-01, DEF-02) hasta cerrarse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3154680" cy="155448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 w="25400">
            <a:solidFill>
              <a:srgbClr val="5A62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600" b="1">
                <a:solidFill>
                  <a:srgbClr val="5A6270"/>
                </a:solidFill>
                <a:latin typeface="Calibri"/>
              </a:rPr>
              <a:t>1. Registro</a:t>
            </a:r>
          </a:p>
          <a:p>
            <a:pPr algn="l"/>
            <a:r>
              <a:rPr sz="1300">
                <a:solidFill>
                  <a:srgbClr val="1D2330"/>
                </a:solidFill>
                <a:latin typeface="Calibri"/>
              </a:rPr>
              <a:t>Chuina registra el defecto</a:t>
            </a:r>
          </a:p>
          <a:p>
            <a:pPr algn="l"/>
            <a:r>
              <a:rPr sz="1300">
                <a:solidFill>
                  <a:srgbClr val="1D2330"/>
                </a:solidFill>
                <a:latin typeface="Calibri"/>
              </a:rPr>
              <a:t>con ID, caso que falló y evidencia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26280" y="1463040"/>
            <a:ext cx="3154680" cy="1554480"/>
          </a:xfrm>
          <a:prstGeom prst="roundRect">
            <a:avLst>
              <a:gd name="adj" fmla="val 10000"/>
            </a:avLst>
          </a:prstGeom>
          <a:solidFill>
            <a:srgbClr val="E8F0FB"/>
          </a:solidFill>
          <a:ln w="25400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600" b="1">
                <a:solidFill>
                  <a:srgbClr val="1F4E8C"/>
                </a:solidFill>
                <a:latin typeface="Calibri"/>
              </a:rPr>
              <a:t>2. Corrección</a:t>
            </a:r>
          </a:p>
          <a:p>
            <a:pPr algn="l"/>
            <a:r>
              <a:rPr sz="1300">
                <a:solidFill>
                  <a:srgbClr val="1D2330"/>
                </a:solidFill>
                <a:latin typeface="Calibri"/>
              </a:rPr>
              <a:t>Pablo crea la rama fix/DEF-0X</a:t>
            </a:r>
          </a:p>
          <a:p>
            <a:pPr algn="l"/>
            <a:r>
              <a:rPr sz="1300">
                <a:solidFill>
                  <a:srgbClr val="1D2330"/>
                </a:solidFill>
                <a:latin typeface="Calibri"/>
              </a:rPr>
              <a:t>desde develop y corrige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03920" y="1463040"/>
            <a:ext cx="3154680" cy="1554480"/>
          </a:xfrm>
          <a:prstGeom prst="roundRect">
            <a:avLst>
              <a:gd name="adj" fmla="val 10000"/>
            </a:avLst>
          </a:prstGeom>
          <a:solidFill>
            <a:srgbClr val="E8F0FB"/>
          </a:solidFill>
          <a:ln w="25400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600" b="1">
                <a:solidFill>
                  <a:srgbClr val="1F4E8C"/>
                </a:solidFill>
                <a:latin typeface="Calibri"/>
              </a:rPr>
              <a:t>3. Prueba de repetición</a:t>
            </a:r>
          </a:p>
          <a:p>
            <a:pPr algn="l"/>
            <a:r>
              <a:rPr sz="1300">
                <a:solidFill>
                  <a:srgbClr val="1D2330"/>
                </a:solidFill>
                <a:latin typeface="Calibri"/>
              </a:rPr>
              <a:t>se ejecuta solo el caso que falló</a:t>
            </a:r>
          </a:p>
          <a:p>
            <a:pPr algn="l"/>
            <a:r>
              <a:rPr sz="1300">
                <a:solidFill>
                  <a:srgbClr val="1D2330"/>
                </a:solidFill>
                <a:latin typeface="Calibri"/>
              </a:rPr>
              <a:t>phpunit --filter 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3931920"/>
            <a:ext cx="3154680" cy="1554480"/>
          </a:xfrm>
          <a:prstGeom prst="roundRect">
            <a:avLst>
              <a:gd name="adj" fmla="val 10000"/>
            </a:avLst>
          </a:prstGeom>
          <a:solidFill>
            <a:srgbClr val="E8F0FB"/>
          </a:solidFill>
          <a:ln w="25400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600" b="1">
                <a:solidFill>
                  <a:srgbClr val="1F4E8C"/>
                </a:solidFill>
                <a:latin typeface="Calibri"/>
              </a:rPr>
              <a:t>4. Regresión completa</a:t>
            </a:r>
          </a:p>
          <a:p>
            <a:pPr algn="l"/>
            <a:r>
              <a:rPr sz="1300">
                <a:solidFill>
                  <a:srgbClr val="1D2330"/>
                </a:solidFill>
                <a:latin typeface="Calibri"/>
              </a:rPr>
              <a:t>el PR dispara el CI:</a:t>
            </a:r>
          </a:p>
          <a:p>
            <a:pPr algn="l"/>
            <a:r>
              <a:rPr sz="1300">
                <a:solidFill>
                  <a:srgbClr val="1D2330"/>
                </a:solidFill>
                <a:latin typeface="Calibri"/>
              </a:rPr>
              <a:t>los 10 casos por niveles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3931920"/>
            <a:ext cx="3154680" cy="1554480"/>
          </a:xfrm>
          <a:prstGeom prst="roundRect">
            <a:avLst>
              <a:gd name="adj" fmla="val 10000"/>
            </a:avLst>
          </a:prstGeom>
          <a:solidFill>
            <a:srgbClr val="E8F0FB"/>
          </a:solidFill>
          <a:ln w="25400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600" b="1">
                <a:solidFill>
                  <a:srgbClr val="1F4E8C"/>
                </a:solidFill>
                <a:latin typeface="Calibri"/>
              </a:rPr>
              <a:t>5. Defectos inyectados</a:t>
            </a:r>
          </a:p>
          <a:p>
            <a:pPr algn="l"/>
            <a:r>
              <a:rPr sz="1300">
                <a:solidFill>
                  <a:srgbClr val="1D2330"/>
                </a:solidFill>
                <a:latin typeface="Calibri"/>
              </a:rPr>
              <a:t>simular-defectos.php confirma</a:t>
            </a:r>
          </a:p>
          <a:p>
            <a:pPr algn="l"/>
            <a:r>
              <a:rPr sz="1300">
                <a:solidFill>
                  <a:srgbClr val="1D2330"/>
                </a:solidFill>
                <a:latin typeface="Calibri"/>
              </a:rPr>
              <a:t>que se siguen detectando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931920"/>
            <a:ext cx="3154680" cy="1554480"/>
          </a:xfrm>
          <a:prstGeom prst="roundRect">
            <a:avLst>
              <a:gd name="adj" fmla="val 10000"/>
            </a:avLst>
          </a:prstGeom>
          <a:solidFill>
            <a:srgbClr val="E3F4EA"/>
          </a:solidFill>
          <a:ln w="25400">
            <a:solidFill>
              <a:srgbClr val="1F7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600" b="1">
                <a:solidFill>
                  <a:srgbClr val="1F7A4D"/>
                </a:solidFill>
                <a:latin typeface="Calibri"/>
              </a:rPr>
              <a:t>6. Cierre</a:t>
            </a:r>
          </a:p>
          <a:p>
            <a:pPr algn="l"/>
            <a:r>
              <a:rPr sz="1300">
                <a:solidFill>
                  <a:srgbClr val="1D2330"/>
                </a:solidFill>
                <a:latin typeface="Calibri"/>
              </a:rPr>
              <a:t>Emily revisa el PR, merge a develop</a:t>
            </a:r>
          </a:p>
          <a:p>
            <a:pPr algn="l"/>
            <a:r>
              <a:rPr sz="1300">
                <a:solidFill>
                  <a:srgbClr val="1D2330"/>
                </a:solidFill>
                <a:latin typeface="Calibri"/>
              </a:rPr>
              <a:t>y el defecto pasa a Cerrado</a:t>
            </a:r>
          </a:p>
        </p:txBody>
      </p:sp>
      <p:cxnSp>
        <p:nvCxnSpPr>
          <p:cNvPr id="9" name="Connector 8"/>
          <p:cNvCxnSpPr>
            <a:stCxn id="3" idx="3"/>
            <a:endCxn id="4" idx="1"/>
          </p:cNvCxnSpPr>
          <p:nvPr/>
        </p:nvCxnSpPr>
        <p:spPr>
          <a:xfrm flipV="1">
            <a:off x="3703320" y="2240280"/>
            <a:ext cx="822960" cy="0"/>
          </a:xfrm>
          <a:prstGeom prst="line">
            <a:avLst/>
          </a:prstGeom>
          <a:ln w="28575">
            <a:solidFill>
              <a:srgbClr val="5A62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>
            <a:stCxn id="4" idx="3"/>
            <a:endCxn id="5" idx="1"/>
          </p:cNvCxnSpPr>
          <p:nvPr/>
        </p:nvCxnSpPr>
        <p:spPr>
          <a:xfrm flipV="1">
            <a:off x="7680960" y="2240280"/>
            <a:ext cx="822960" cy="0"/>
          </a:xfrm>
          <a:prstGeom prst="line">
            <a:avLst/>
          </a:prstGeom>
          <a:ln w="28575">
            <a:solidFill>
              <a:srgbClr val="5A62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>
            <a:stCxn id="5" idx="2"/>
            <a:endCxn id="6" idx="0"/>
          </p:cNvCxnSpPr>
          <p:nvPr/>
        </p:nvCxnSpPr>
        <p:spPr>
          <a:xfrm flipH="1">
            <a:off x="10081260" y="3017520"/>
            <a:ext cx="0" cy="914400"/>
          </a:xfrm>
          <a:prstGeom prst="line">
            <a:avLst/>
          </a:prstGeom>
          <a:ln w="28575">
            <a:solidFill>
              <a:srgbClr val="5A62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>
            <a:stCxn id="6" idx="1"/>
            <a:endCxn id="7" idx="3"/>
          </p:cNvCxnSpPr>
          <p:nvPr/>
        </p:nvCxnSpPr>
        <p:spPr>
          <a:xfrm flipH="1" flipV="1">
            <a:off x="7680960" y="4709160"/>
            <a:ext cx="822960" cy="0"/>
          </a:xfrm>
          <a:prstGeom prst="line">
            <a:avLst/>
          </a:prstGeom>
          <a:ln w="28575">
            <a:solidFill>
              <a:srgbClr val="5A62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>
            <a:stCxn id="7" idx="1"/>
            <a:endCxn id="8" idx="3"/>
          </p:cNvCxnSpPr>
          <p:nvPr/>
        </p:nvCxnSpPr>
        <p:spPr>
          <a:xfrm flipH="1" flipV="1">
            <a:off x="3703320" y="4709160"/>
            <a:ext cx="822960" cy="0"/>
          </a:xfrm>
          <a:prstGeom prst="line">
            <a:avLst/>
          </a:prstGeom>
          <a:ln w="28575">
            <a:solidFill>
              <a:srgbClr val="5A62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6355080" y="3017520"/>
            <a:ext cx="2880360" cy="914400"/>
          </a:xfrm>
          <a:prstGeom prst="line">
            <a:avLst/>
          </a:prstGeom>
          <a:ln w="28575">
            <a:solidFill>
              <a:srgbClr val="B4231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120640" y="3429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B42318"/>
                </a:solidFill>
                <a:latin typeface="Calibri"/>
              </a:rPr>
              <a:t>si algún caso falla, se regresa a corrección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85216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0">
                <a:solidFill>
                  <a:srgbClr val="5A6270"/>
                </a:solidFill>
                <a:latin typeface="Calibri"/>
              </a:rPr>
              <a:t>Regresión nocturna: el CI repite la suite completa cada día a la 01:00 aunque no haya cambios.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D2330"/>
                </a:solidFill>
                <a:latin typeface="Calibri"/>
              </a:rPr>
              <a:t>Flujo de trabajo con integración continua</a:t>
            </a:r>
          </a:p>
          <a:p>
            <a:r>
              <a:rPr sz="1400">
                <a:solidFill>
                  <a:srgbClr val="5A6270"/>
                </a:solidFill>
                <a:latin typeface="Calibri"/>
              </a:rPr>
              <a:t>Del cambio en el código a la integración en el repositorio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514600" cy="141732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 w="25400">
            <a:solidFill>
              <a:srgbClr val="5A62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500" b="1">
                <a:solidFill>
                  <a:srgbClr val="5A6270"/>
                </a:solidFill>
                <a:latin typeface="Calibri"/>
              </a:rPr>
              <a:t>1. Cambio en el código</a:t>
            </a:r>
          </a:p>
          <a:p>
            <a:pPr algn="l"/>
            <a:r>
              <a:rPr sz="1200">
                <a:solidFill>
                  <a:srgbClr val="1D2330"/>
                </a:solidFill>
                <a:latin typeface="Calibri"/>
              </a:rPr>
              <a:t>implementa una función o</a:t>
            </a:r>
          </a:p>
          <a:p>
            <a:pPr algn="l"/>
            <a:r>
              <a:rPr sz="1200">
                <a:solidFill>
                  <a:srgbClr val="1D2330"/>
                </a:solidFill>
                <a:latin typeface="Calibri"/>
              </a:rPr>
              <a:t>corrige un defecto (rama fix/**)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000" y="1371600"/>
            <a:ext cx="2514600" cy="1417320"/>
          </a:xfrm>
          <a:prstGeom prst="roundRect">
            <a:avLst>
              <a:gd name="adj" fmla="val 10000"/>
            </a:avLst>
          </a:prstGeom>
          <a:solidFill>
            <a:srgbClr val="E8F0FB"/>
          </a:solidFill>
          <a:ln w="25400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500" b="1">
                <a:solidFill>
                  <a:srgbClr val="1F4E8C"/>
                </a:solidFill>
                <a:latin typeface="Calibri"/>
              </a:rPr>
              <a:t>2. Commit y push</a:t>
            </a:r>
          </a:p>
          <a:p>
            <a:pPr algn="l"/>
            <a:r>
              <a:rPr sz="1200">
                <a:solidFill>
                  <a:srgbClr val="1D2330"/>
                </a:solidFill>
                <a:latin typeface="Calibri"/>
              </a:rPr>
              <a:t>se registra y comparte</a:t>
            </a:r>
          </a:p>
          <a:p>
            <a:pPr algn="l"/>
            <a:r>
              <a:rPr sz="1200">
                <a:solidFill>
                  <a:srgbClr val="1D2330"/>
                </a:solidFill>
                <a:latin typeface="Calibri"/>
              </a:rPr>
              <a:t>el cambio; se abre el PR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2514600" cy="1417320"/>
          </a:xfrm>
          <a:prstGeom prst="roundRect">
            <a:avLst>
              <a:gd name="adj" fmla="val 10000"/>
            </a:avLst>
          </a:prstGeom>
          <a:solidFill>
            <a:srgbClr val="E8F0FB"/>
          </a:solidFill>
          <a:ln w="25400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500" b="1">
                <a:solidFill>
                  <a:srgbClr val="1F4E8C"/>
                </a:solidFill>
                <a:latin typeface="Calibri"/>
              </a:rPr>
              <a:t>3. GitHub Actions</a:t>
            </a:r>
          </a:p>
          <a:p>
            <a:pPr algn="l"/>
            <a:r>
              <a:rPr sz="1200">
                <a:solidFill>
                  <a:srgbClr val="1D2330"/>
                </a:solidFill>
                <a:latin typeface="Calibri"/>
              </a:rPr>
              <a:t>prepara el entorno:</a:t>
            </a:r>
          </a:p>
          <a:p>
            <a:pPr algn="l"/>
            <a:r>
              <a:rPr sz="1200">
                <a:solidFill>
                  <a:srgbClr val="1D2330"/>
                </a:solidFill>
                <a:latin typeface="Calibri"/>
              </a:rPr>
              <a:t>ubuntu, PHP 8.2 · 8.3 · 8.4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81160" y="1371600"/>
            <a:ext cx="2423160" cy="1417320"/>
          </a:xfrm>
          <a:prstGeom prst="roundRect">
            <a:avLst>
              <a:gd name="adj" fmla="val 10000"/>
            </a:avLst>
          </a:prstGeom>
          <a:solidFill>
            <a:srgbClr val="E8F0FB"/>
          </a:solidFill>
          <a:ln w="25400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500" b="1">
                <a:solidFill>
                  <a:srgbClr val="1F4E8C"/>
                </a:solidFill>
                <a:latin typeface="Calibri"/>
              </a:rPr>
              <a:t>4. Pruebas</a:t>
            </a:r>
          </a:p>
          <a:p>
            <a:pPr algn="l"/>
            <a:r>
              <a:rPr sz="1200">
                <a:solidFill>
                  <a:srgbClr val="1D2330"/>
                </a:solidFill>
                <a:latin typeface="Calibri"/>
              </a:rPr>
              <a:t>unitarias, integración,</a:t>
            </a:r>
          </a:p>
          <a:p>
            <a:pPr algn="l"/>
            <a:r>
              <a:rPr sz="1200">
                <a:solidFill>
                  <a:srgbClr val="1D2330"/>
                </a:solidFill>
                <a:latin typeface="Calibri"/>
              </a:rPr>
              <a:t>sistema, aceptación</a:t>
            </a:r>
          </a:p>
          <a:p>
            <a:pPr algn="l"/>
            <a:r>
              <a:rPr sz="1200">
                <a:solidFill>
                  <a:srgbClr val="1D2330"/>
                </a:solidFill>
                <a:latin typeface="Calibri"/>
              </a:rPr>
              <a:t>y regresión DEF</a:t>
            </a:r>
          </a:p>
        </p:txBody>
      </p:sp>
      <p:cxnSp>
        <p:nvCxnSpPr>
          <p:cNvPr id="7" name="Connector 6"/>
          <p:cNvCxnSpPr>
            <a:stCxn id="3" idx="3"/>
            <a:endCxn id="4" idx="1"/>
          </p:cNvCxnSpPr>
          <p:nvPr/>
        </p:nvCxnSpPr>
        <p:spPr>
          <a:xfrm flipV="1">
            <a:off x="2971800" y="2080260"/>
            <a:ext cx="457200" cy="0"/>
          </a:xfrm>
          <a:prstGeom prst="line">
            <a:avLst/>
          </a:prstGeom>
          <a:ln w="28575">
            <a:solidFill>
              <a:srgbClr val="5A62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>
            <a:stCxn id="4" idx="3"/>
            <a:endCxn id="5" idx="1"/>
          </p:cNvCxnSpPr>
          <p:nvPr/>
        </p:nvCxnSpPr>
        <p:spPr>
          <a:xfrm flipV="1">
            <a:off x="5943600" y="2080260"/>
            <a:ext cx="457200" cy="0"/>
          </a:xfrm>
          <a:prstGeom prst="line">
            <a:avLst/>
          </a:prstGeom>
          <a:ln w="28575">
            <a:solidFill>
              <a:srgbClr val="5A62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>
            <a:stCxn id="5" idx="3"/>
            <a:endCxn id="6" idx="1"/>
          </p:cNvCxnSpPr>
          <p:nvPr/>
        </p:nvCxnSpPr>
        <p:spPr>
          <a:xfrm flipV="1">
            <a:off x="8915400" y="2080260"/>
            <a:ext cx="365760" cy="0"/>
          </a:xfrm>
          <a:prstGeom prst="line">
            <a:avLst/>
          </a:prstGeom>
          <a:ln w="28575">
            <a:solidFill>
              <a:srgbClr val="5A62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120640" y="3794760"/>
            <a:ext cx="3291840" cy="1463040"/>
          </a:xfrm>
          <a:prstGeom prst="roundRect">
            <a:avLst>
              <a:gd name="adj" fmla="val 10000"/>
            </a:avLst>
          </a:prstGeom>
          <a:solidFill>
            <a:srgbClr val="E3F4EA"/>
          </a:solidFill>
          <a:ln w="25400">
            <a:solidFill>
              <a:srgbClr val="1F7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500" b="1">
                <a:solidFill>
                  <a:srgbClr val="1F7A4D"/>
                </a:solidFill>
                <a:latin typeface="Calibri"/>
              </a:rPr>
              <a:t>5A. Pruebas aprobadas</a:t>
            </a:r>
          </a:p>
          <a:p>
            <a:pPr algn="l"/>
            <a:r>
              <a:rPr sz="1200">
                <a:solidFill>
                  <a:srgbClr val="1D2330"/>
                </a:solidFill>
                <a:latin typeface="Calibri"/>
              </a:rPr>
              <a:t>checks en verde → revisión del PR</a:t>
            </a:r>
          </a:p>
          <a:p>
            <a:pPr algn="l"/>
            <a:r>
              <a:rPr sz="1200">
                <a:solidFill>
                  <a:srgbClr val="1D2330"/>
                </a:solidFill>
                <a:latin typeface="Calibri"/>
              </a:rPr>
              <a:t>→ merge a develop / main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41080" y="3794760"/>
            <a:ext cx="3108960" cy="1463040"/>
          </a:xfrm>
          <a:prstGeom prst="roundRect">
            <a:avLst>
              <a:gd name="adj" fmla="val 10000"/>
            </a:avLst>
          </a:prstGeom>
          <a:solidFill>
            <a:srgbClr val="FDE8E6"/>
          </a:solidFill>
          <a:ln w="25400">
            <a:solidFill>
              <a:srgbClr val="B42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500" b="1">
                <a:solidFill>
                  <a:srgbClr val="B42318"/>
                </a:solidFill>
                <a:latin typeface="Calibri"/>
              </a:rPr>
              <a:t>5B. Pruebas fallidas</a:t>
            </a:r>
          </a:p>
          <a:p>
            <a:pPr algn="l"/>
            <a:r>
              <a:rPr sz="1200">
                <a:solidFill>
                  <a:srgbClr val="1D2330"/>
                </a:solidFill>
                <a:latin typeface="Calibri"/>
              </a:rPr>
              <a:t>se notifica el fallo, se revisan</a:t>
            </a:r>
          </a:p>
          <a:p>
            <a:pPr algn="l"/>
            <a:r>
              <a:rPr sz="1200">
                <a:solidFill>
                  <a:srgbClr val="1D2330"/>
                </a:solidFill>
                <a:latin typeface="Calibri"/>
              </a:rPr>
              <a:t>los logs y se corrige el código</a:t>
            </a:r>
          </a:p>
        </p:txBody>
      </p:sp>
      <p:cxnSp>
        <p:nvCxnSpPr>
          <p:cNvPr id="12" name="Connector 11"/>
          <p:cNvCxnSpPr>
            <a:stCxn id="6" idx="2"/>
            <a:endCxn id="10" idx="0"/>
          </p:cNvCxnSpPr>
          <p:nvPr/>
        </p:nvCxnSpPr>
        <p:spPr>
          <a:xfrm flipH="1">
            <a:off x="6766560" y="2788920"/>
            <a:ext cx="3726180" cy="1005840"/>
          </a:xfrm>
          <a:prstGeom prst="line">
            <a:avLst/>
          </a:prstGeom>
          <a:ln w="28575">
            <a:solidFill>
              <a:srgbClr val="1F7A4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>
            <a:stCxn id="6" idx="2"/>
            <a:endCxn id="11" idx="0"/>
          </p:cNvCxnSpPr>
          <p:nvPr/>
        </p:nvCxnSpPr>
        <p:spPr>
          <a:xfrm flipH="1">
            <a:off x="10195560" y="2788920"/>
            <a:ext cx="297180" cy="1005840"/>
          </a:xfrm>
          <a:prstGeom prst="line">
            <a:avLst/>
          </a:prstGeom>
          <a:ln w="28575">
            <a:solidFill>
              <a:srgbClr val="B4231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195560" y="5257800"/>
            <a:ext cx="0" cy="365760"/>
          </a:xfrm>
          <a:prstGeom prst="line">
            <a:avLst/>
          </a:prstGeom>
          <a:ln w="28575">
            <a:solidFill>
              <a:srgbClr val="B423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1714500" y="5623560"/>
            <a:ext cx="8481060" cy="0"/>
          </a:xfrm>
          <a:prstGeom prst="line">
            <a:avLst/>
          </a:prstGeom>
          <a:ln w="28575">
            <a:solidFill>
              <a:srgbClr val="B423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14500" y="2788920"/>
            <a:ext cx="0" cy="2834640"/>
          </a:xfrm>
          <a:prstGeom prst="line">
            <a:avLst/>
          </a:prstGeom>
          <a:ln w="28575">
            <a:solidFill>
              <a:srgbClr val="B4231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874519" y="52120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B42318"/>
                </a:solidFill>
                <a:latin typeface="Calibri"/>
              </a:rPr>
              <a:t>el ciclo vuelve al paso 1 hasta que todo pase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989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0">
                <a:solidFill>
                  <a:srgbClr val="5A6270"/>
                </a:solidFill>
                <a:latin typeface="Calibri"/>
              </a:rPr>
              <a:t>Archivo del flujo: .github/workflows/ci.yml · se ejecuta en cada push, en cada Pull Request a main o develop y cada noche a la 01:00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D2330"/>
                </a:solidFill>
                <a:latin typeface="Calibri"/>
              </a:rPr>
              <a:t>Flujo de integración continua</a:t>
            </a:r>
          </a:p>
          <a:p>
            <a:r>
              <a:rPr sz="1400">
                <a:solidFill>
                  <a:srgbClr val="5A6270"/>
                </a:solidFill>
                <a:latin typeface="Calibri"/>
              </a:rPr>
              <a:t>GitHub Actions · .github/workflows/ci.yml · se ejecuta al actualizar el repositorio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600200"/>
            <a:ext cx="1481328" cy="178308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 w="25400">
            <a:solidFill>
              <a:srgbClr val="5A62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500" b="1">
                <a:solidFill>
                  <a:srgbClr val="5A6270"/>
                </a:solidFill>
                <a:latin typeface="Calibri"/>
              </a:rPr>
              <a:t>Disparador</a:t>
            </a:r>
          </a:p>
          <a:p>
            <a:pPr algn="l"/>
            <a:r>
              <a:rPr sz="1200">
                <a:solidFill>
                  <a:srgbClr val="1D2330"/>
                </a:solidFill>
                <a:latin typeface="Calibri"/>
              </a:rPr>
              <a:t>push a main, develop,</a:t>
            </a:r>
          </a:p>
          <a:p>
            <a:pPr algn="l"/>
            <a:r>
              <a:rPr sz="1200">
                <a:solidFill>
                  <a:srgbClr val="1D2330"/>
                </a:solidFill>
                <a:latin typeface="Calibri"/>
              </a:rPr>
              <a:t>feature/**, release/**</a:t>
            </a:r>
          </a:p>
          <a:p>
            <a:pPr algn="l"/>
            <a:r>
              <a:rPr sz="1200">
                <a:solidFill>
                  <a:srgbClr val="1D2330"/>
                </a:solidFill>
                <a:latin typeface="Calibri"/>
              </a:rPr>
              <a:t>Pull Request</a:t>
            </a:r>
          </a:p>
          <a:p>
            <a:pPr algn="l"/>
            <a:r>
              <a:rPr sz="1200">
                <a:solidFill>
                  <a:srgbClr val="1D2330"/>
                </a:solidFill>
                <a:latin typeface="Calibri"/>
              </a:rPr>
              <a:t>cron diario 01:00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11680" y="1600200"/>
            <a:ext cx="1481328" cy="1783080"/>
          </a:xfrm>
          <a:prstGeom prst="roundRect">
            <a:avLst>
              <a:gd name="adj" fmla="val 10000"/>
            </a:avLst>
          </a:prstGeom>
          <a:solidFill>
            <a:srgbClr val="E8F0FB"/>
          </a:solidFill>
          <a:ln w="25400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500" b="1">
                <a:solidFill>
                  <a:srgbClr val="1F4E8C"/>
                </a:solidFill>
                <a:latin typeface="Calibri"/>
              </a:rPr>
              <a:t>1. Unitarias</a:t>
            </a:r>
          </a:p>
          <a:p>
            <a:pPr algn="l"/>
            <a:r>
              <a:rPr sz="1200">
                <a:solidFill>
                  <a:srgbClr val="1D2330"/>
                </a:solidFill>
                <a:latin typeface="Calibri"/>
              </a:rPr>
              <a:t>CP-01 a CP-04</a:t>
            </a:r>
          </a:p>
          <a:p>
            <a:pPr algn="l"/>
            <a:r>
              <a:rPr sz="1200">
                <a:solidFill>
                  <a:srgbClr val="1D2330"/>
                </a:solidFill>
                <a:latin typeface="Calibri"/>
              </a:rPr>
              <a:t>PHP 8.2 · 8.3 · 8.4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1600200"/>
            <a:ext cx="1481328" cy="1783080"/>
          </a:xfrm>
          <a:prstGeom prst="roundRect">
            <a:avLst>
              <a:gd name="adj" fmla="val 10000"/>
            </a:avLst>
          </a:prstGeom>
          <a:solidFill>
            <a:srgbClr val="E8F0FB"/>
          </a:solidFill>
          <a:ln w="25400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500" b="1">
                <a:solidFill>
                  <a:srgbClr val="1F4E8C"/>
                </a:solidFill>
                <a:latin typeface="Calibri"/>
              </a:rPr>
              <a:t>2. Integración</a:t>
            </a:r>
          </a:p>
          <a:p>
            <a:pPr algn="l"/>
            <a:r>
              <a:rPr sz="1200">
                <a:solidFill>
                  <a:srgbClr val="1D2330"/>
                </a:solidFill>
                <a:latin typeface="Calibri"/>
              </a:rPr>
              <a:t>CP-05 y CP-06</a:t>
            </a:r>
          </a:p>
          <a:p>
            <a:pPr algn="l"/>
            <a:r>
              <a:rPr sz="1200">
                <a:solidFill>
                  <a:srgbClr val="1D2330"/>
                </a:solidFill>
                <a:latin typeface="Calibri"/>
              </a:rPr>
              <a:t>Inventario + archivo JSON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0" y="1600200"/>
            <a:ext cx="1481328" cy="1783080"/>
          </a:xfrm>
          <a:prstGeom prst="roundRect">
            <a:avLst>
              <a:gd name="adj" fmla="val 10000"/>
            </a:avLst>
          </a:prstGeom>
          <a:solidFill>
            <a:srgbClr val="E8F0FB"/>
          </a:solidFill>
          <a:ln w="25400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500" b="1">
                <a:solidFill>
                  <a:srgbClr val="1F4E8C"/>
                </a:solidFill>
                <a:latin typeface="Calibri"/>
              </a:rPr>
              <a:t>3. Sistema</a:t>
            </a:r>
          </a:p>
          <a:p>
            <a:pPr algn="l"/>
            <a:r>
              <a:rPr sz="1200">
                <a:solidFill>
                  <a:srgbClr val="1D2330"/>
                </a:solidFill>
                <a:latin typeface="Calibri"/>
              </a:rPr>
              <a:t>CP-07 y CP-08</a:t>
            </a:r>
          </a:p>
          <a:p>
            <a:pPr algn="l"/>
            <a:r>
              <a:rPr sz="1200">
                <a:solidFill>
                  <a:srgbClr val="1D2330"/>
                </a:solidFill>
                <a:latin typeface="Calibri"/>
              </a:rPr>
              <a:t>php -S + HTTP real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1600200"/>
            <a:ext cx="1481328" cy="1783080"/>
          </a:xfrm>
          <a:prstGeom prst="roundRect">
            <a:avLst>
              <a:gd name="adj" fmla="val 10000"/>
            </a:avLst>
          </a:prstGeom>
          <a:solidFill>
            <a:srgbClr val="E8F0FB"/>
          </a:solidFill>
          <a:ln w="25400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500" b="1">
                <a:solidFill>
                  <a:srgbClr val="1F4E8C"/>
                </a:solidFill>
                <a:latin typeface="Calibri"/>
              </a:rPr>
              <a:t>4. Aceptación</a:t>
            </a:r>
          </a:p>
          <a:p>
            <a:pPr algn="l"/>
            <a:r>
              <a:rPr sz="1200">
                <a:solidFill>
                  <a:srgbClr val="1D2330"/>
                </a:solidFill>
                <a:latin typeface="Calibri"/>
              </a:rPr>
              <a:t>CP-09 y CP-10</a:t>
            </a:r>
          </a:p>
          <a:p>
            <a:pPr algn="l"/>
            <a:r>
              <a:rPr sz="1200">
                <a:solidFill>
                  <a:srgbClr val="1D2330"/>
                </a:solidFill>
                <a:latin typeface="Calibri"/>
              </a:rPr>
              <a:t>escenarios de la cliente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5360" y="1600200"/>
            <a:ext cx="1481328" cy="1783080"/>
          </a:xfrm>
          <a:prstGeom prst="roundRect">
            <a:avLst>
              <a:gd name="adj" fmla="val 10000"/>
            </a:avLst>
          </a:prstGeom>
          <a:solidFill>
            <a:srgbClr val="E8F0FB"/>
          </a:solidFill>
          <a:ln w="25400">
            <a:solidFill>
              <a:srgbClr val="1F4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500" b="1">
                <a:solidFill>
                  <a:srgbClr val="1F4E8C"/>
                </a:solidFill>
                <a:latin typeface="Calibri"/>
              </a:rPr>
              <a:t>5. Regresión DEF</a:t>
            </a:r>
          </a:p>
          <a:p>
            <a:pPr algn="l"/>
            <a:r>
              <a:rPr sz="1200">
                <a:solidFill>
                  <a:srgbClr val="1D2330"/>
                </a:solidFill>
                <a:latin typeface="Calibri"/>
              </a:rPr>
              <a:t>inyecta DEF-01 y DEF-02;</a:t>
            </a:r>
          </a:p>
          <a:p>
            <a:pPr algn="l"/>
            <a:r>
              <a:rPr sz="1200">
                <a:solidFill>
                  <a:srgbClr val="1D2330"/>
                </a:solidFill>
                <a:latin typeface="Calibri"/>
              </a:rPr>
              <a:t>las pruebas deben</a:t>
            </a:r>
          </a:p>
          <a:p>
            <a:pPr algn="l"/>
            <a:r>
              <a:rPr sz="1200">
                <a:solidFill>
                  <a:srgbClr val="1D2330"/>
                </a:solidFill>
                <a:latin typeface="Calibri"/>
              </a:rPr>
              <a:t>detectarlos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41280" y="1600200"/>
            <a:ext cx="1481328" cy="1783080"/>
          </a:xfrm>
          <a:prstGeom prst="roundRect">
            <a:avLst>
              <a:gd name="adj" fmla="val 10000"/>
            </a:avLst>
          </a:prstGeom>
          <a:solidFill>
            <a:srgbClr val="E3F4EA"/>
          </a:solidFill>
          <a:ln w="25400">
            <a:solidFill>
              <a:srgbClr val="1F7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500" b="1">
                <a:solidFill>
                  <a:srgbClr val="1F7A4D"/>
                </a:solidFill>
                <a:latin typeface="Calibri"/>
              </a:rPr>
              <a:t>PR integrable</a:t>
            </a:r>
          </a:p>
          <a:p>
            <a:pPr algn="l"/>
            <a:r>
              <a:rPr sz="1200">
                <a:solidFill>
                  <a:srgbClr val="1D2330"/>
                </a:solidFill>
                <a:latin typeface="Calibri"/>
              </a:rPr>
              <a:t>todos los checks en verde</a:t>
            </a:r>
          </a:p>
          <a:p>
            <a:pPr algn="l"/>
            <a:r>
              <a:rPr sz="1200">
                <a:solidFill>
                  <a:srgbClr val="1D2330"/>
                </a:solidFill>
                <a:latin typeface="Calibri"/>
              </a:rPr>
              <a:t>→ merge a develop / main</a:t>
            </a:r>
          </a:p>
        </p:txBody>
      </p:sp>
      <p:cxnSp>
        <p:nvCxnSpPr>
          <p:cNvPr id="10" name="Connector 9"/>
          <p:cNvCxnSpPr>
            <a:stCxn id="3" idx="3"/>
            <a:endCxn id="4" idx="1"/>
          </p:cNvCxnSpPr>
          <p:nvPr/>
        </p:nvCxnSpPr>
        <p:spPr>
          <a:xfrm flipV="1">
            <a:off x="1847088" y="2491740"/>
            <a:ext cx="164592" cy="0"/>
          </a:xfrm>
          <a:prstGeom prst="line">
            <a:avLst/>
          </a:prstGeom>
          <a:ln w="28575">
            <a:solidFill>
              <a:srgbClr val="5A62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>
            <a:stCxn id="4" idx="3"/>
            <a:endCxn id="5" idx="1"/>
          </p:cNvCxnSpPr>
          <p:nvPr/>
        </p:nvCxnSpPr>
        <p:spPr>
          <a:xfrm flipV="1">
            <a:off x="3493008" y="2491740"/>
            <a:ext cx="164592" cy="0"/>
          </a:xfrm>
          <a:prstGeom prst="line">
            <a:avLst/>
          </a:prstGeom>
          <a:ln w="28575">
            <a:solidFill>
              <a:srgbClr val="5A62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>
            <a:stCxn id="5" idx="3"/>
            <a:endCxn id="6" idx="1"/>
          </p:cNvCxnSpPr>
          <p:nvPr/>
        </p:nvCxnSpPr>
        <p:spPr>
          <a:xfrm flipV="1">
            <a:off x="5138928" y="2491740"/>
            <a:ext cx="164592" cy="0"/>
          </a:xfrm>
          <a:prstGeom prst="line">
            <a:avLst/>
          </a:prstGeom>
          <a:ln w="28575">
            <a:solidFill>
              <a:srgbClr val="5A62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>
            <a:stCxn id="6" idx="3"/>
            <a:endCxn id="7" idx="1"/>
          </p:cNvCxnSpPr>
          <p:nvPr/>
        </p:nvCxnSpPr>
        <p:spPr>
          <a:xfrm flipV="1">
            <a:off x="6784848" y="2491740"/>
            <a:ext cx="164592" cy="0"/>
          </a:xfrm>
          <a:prstGeom prst="line">
            <a:avLst/>
          </a:prstGeom>
          <a:ln w="28575">
            <a:solidFill>
              <a:srgbClr val="5A62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>
            <a:stCxn id="7" idx="3"/>
            <a:endCxn id="8" idx="1"/>
          </p:cNvCxnSpPr>
          <p:nvPr/>
        </p:nvCxnSpPr>
        <p:spPr>
          <a:xfrm flipV="1">
            <a:off x="8430768" y="2491740"/>
            <a:ext cx="164592" cy="0"/>
          </a:xfrm>
          <a:prstGeom prst="line">
            <a:avLst/>
          </a:prstGeom>
          <a:ln w="28575">
            <a:solidFill>
              <a:srgbClr val="5A62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>
            <a:stCxn id="8" idx="3"/>
            <a:endCxn id="9" idx="1"/>
          </p:cNvCxnSpPr>
          <p:nvPr/>
        </p:nvCxnSpPr>
        <p:spPr>
          <a:xfrm flipV="1">
            <a:off x="10076688" y="2491740"/>
            <a:ext cx="164592" cy="0"/>
          </a:xfrm>
          <a:prstGeom prst="line">
            <a:avLst/>
          </a:prstGeom>
          <a:ln w="28575">
            <a:solidFill>
              <a:srgbClr val="5A62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752344" y="3383280"/>
            <a:ext cx="0" cy="457200"/>
          </a:xfrm>
          <a:prstGeom prst="line">
            <a:avLst/>
          </a:prstGeom>
          <a:ln w="28575">
            <a:solidFill>
              <a:srgbClr val="5A6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398264" y="3383280"/>
            <a:ext cx="0" cy="457200"/>
          </a:xfrm>
          <a:prstGeom prst="line">
            <a:avLst/>
          </a:prstGeom>
          <a:ln w="28575">
            <a:solidFill>
              <a:srgbClr val="5A6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044184" y="3383280"/>
            <a:ext cx="0" cy="457200"/>
          </a:xfrm>
          <a:prstGeom prst="line">
            <a:avLst/>
          </a:prstGeom>
          <a:ln w="28575">
            <a:solidFill>
              <a:srgbClr val="5A6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690104" y="3383280"/>
            <a:ext cx="0" cy="457200"/>
          </a:xfrm>
          <a:prstGeom prst="line">
            <a:avLst/>
          </a:prstGeom>
          <a:ln w="28575">
            <a:solidFill>
              <a:srgbClr val="5A6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752344" y="3840480"/>
            <a:ext cx="4937760" cy="0"/>
          </a:xfrm>
          <a:prstGeom prst="line">
            <a:avLst/>
          </a:prstGeom>
          <a:ln w="28575">
            <a:solidFill>
              <a:srgbClr val="5A6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221224" y="3840480"/>
            <a:ext cx="0" cy="457200"/>
          </a:xfrm>
          <a:prstGeom prst="line">
            <a:avLst/>
          </a:prstGeom>
          <a:ln w="28575">
            <a:solidFill>
              <a:srgbClr val="5A62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203704" y="4315968"/>
            <a:ext cx="6035040" cy="114300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 w="25400">
            <a:solidFill>
              <a:srgbClr val="5A62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500" b="1">
                <a:solidFill>
                  <a:srgbClr val="5A6270"/>
                </a:solidFill>
                <a:latin typeface="Calibri"/>
              </a:rPr>
              <a:t>Reporte de resultados (siempre se ejecuta)</a:t>
            </a:r>
          </a:p>
          <a:p>
            <a:pPr algn="l"/>
            <a:r>
              <a:rPr sz="1200">
                <a:solidFill>
                  <a:srgbClr val="1D2330"/>
                </a:solidFill>
                <a:latin typeface="Calibri"/>
              </a:rPr>
              <a:t>Junta los junit-*.xml de cada nivel, publica la tabla en el resumen del job</a:t>
            </a:r>
          </a:p>
          <a:p>
            <a:pPr algn="l"/>
            <a:r>
              <a:rPr sz="1200">
                <a:solidFill>
                  <a:srgbClr val="1D2330"/>
                </a:solidFill>
                <a:latin typeface="Calibri"/>
              </a:rPr>
              <a:t>y sube el artefacto «evidencia-pruebas» (reporte HTML, JSON y JUnit).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4315968"/>
            <a:ext cx="2880360" cy="1143000"/>
          </a:xfrm>
          <a:prstGeom prst="roundRect">
            <a:avLst>
              <a:gd name="adj" fmla="val 10000"/>
            </a:avLst>
          </a:prstGeom>
          <a:solidFill>
            <a:srgbClr val="FDE8E6"/>
          </a:solidFill>
          <a:ln w="25400">
            <a:solidFill>
              <a:srgbClr val="B42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500" b="1">
                <a:solidFill>
                  <a:srgbClr val="B42318"/>
                </a:solidFill>
                <a:latin typeface="Calibri"/>
              </a:rPr>
              <a:t>Si un nivel falla</a:t>
            </a:r>
          </a:p>
          <a:p>
            <a:pPr algn="l"/>
            <a:r>
              <a:rPr sz="1200">
                <a:solidFill>
                  <a:srgbClr val="1D2330"/>
                </a:solidFill>
                <a:latin typeface="Calibri"/>
              </a:rPr>
              <a:t>los siguientes no se ejecutan</a:t>
            </a:r>
          </a:p>
          <a:p>
            <a:pPr algn="l"/>
            <a:r>
              <a:rPr sz="1200">
                <a:solidFill>
                  <a:srgbClr val="1D2330"/>
                </a:solidFill>
                <a:latin typeface="Calibri"/>
              </a:rPr>
              <a:t>y el Pull Request se bloquea.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852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0">
                <a:solidFill>
                  <a:srgbClr val="5A6270"/>
                </a:solidFill>
                <a:latin typeface="Calibri"/>
              </a:rPr>
              <a:t>concurrency: un push nuevo en la misma rama cancela la ejecución anterior · caché de Composer por versión de PHP · protección de ramas: main y develop solo aceptan PR con todos los checks en verde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Diagramas - Segunda parte</dc:title>
  <dc:subject/>
  <dc:creator>Equipo Sistema de Inventario</dc:creator>
  <cp:keywords/>
  <dc:description/>
  <cp:lastModifiedBy>Equipo Sistema de Inventario</cp:lastModifiedBy>
  <cp:revision>1</cp:revision>
  <dcterms:created xsi:type="dcterms:W3CDTF">2026-10-31T05:22:53Z</dcterms:created>
  <dcterms:modified xsi:type="dcterms:W3CDTF">2013-01-27T09:15:58Z</dcterms:modified>
  <cp:category/>
</cp:coreProperties>
</file>