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Aprobación</c:v>
                </c:pt>
              </c:strCache>
            </c:strRef>
          </c:tx>
          <c:spPr>
            <a:solidFill>
              <a:srgbClr val="1F4E8C"/>
            </a:solidFill>
          </c:spPr>
          <c:cat>
            <c:strRef>
              <c:f>Sheet1!$A$2:$A$5</c:f>
              <c:strCache>
                <c:ptCount val="4"/>
                <c:pt idx="0">
                  <c:v>Ronda 1 · código actual</c:v>
                </c:pt>
                <c:pt idx="1">
                  <c:v>Ronda 2 · con DEF-01</c:v>
                </c:pt>
                <c:pt idx="2">
                  <c:v>Ronda 3 · con DEF-02</c:v>
                </c:pt>
                <c:pt idx="3">
                  <c:v>Ronda 4 · código corregido</c:v>
                </c:pt>
              </c:strCache>
            </c:strRef>
          </c:cat>
          <c:val>
            <c:numRef>
              <c:f>Sheet1!$B$2:$B$5</c:f>
              <c:numCache>
                <c:formatCode>0 %</c:formatCode>
                <c:ptCount val="4"/>
                <c:pt idx="0">
                  <c:v>1.0</c:v>
                </c:pt>
                <c:pt idx="1">
                  <c:v>0.7</c:v>
                </c:pt>
                <c:pt idx="2">
                  <c:v>0.9</c:v>
                </c:pt>
                <c:pt idx="3">
                  <c:v>1.0</c:v>
                </c:pt>
              </c:numCache>
            </c:numRef>
          </c:val>
        </c:ser>
        <c:dLbls>
          <c:numFmt formatCode="0 %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1A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 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0.25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Clasificación de los casos de prueba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10 casos automatizados con PHPUnit, una carpeta por nivel en tests/</a:t>
            </a:r>
          </a:p>
        </p:txBody>
      </p:sp>
      <p:sp>
        <p:nvSpPr>
          <p:cNvPr id="3" name="Rectangle 2"/>
          <p:cNvSpPr/>
          <p:nvPr/>
        </p:nvSpPr>
        <p:spPr>
          <a:xfrm>
            <a:off x="3992727" y="1417320"/>
            <a:ext cx="4206240" cy="1005840"/>
          </a:xfrm>
          <a:prstGeom prst="rect">
            <a:avLst/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7A4D"/>
                </a:solidFill>
                <a:latin typeface="Calibri"/>
              </a:rPr>
              <a:t>Aceptación · CP-09, CP-10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Escenarios de la cliente (Dado / Cuando / Entonces) contra el sistema en ejecución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169767" y="2606040"/>
            <a:ext cx="5852160" cy="1005840"/>
          </a:xfrm>
          <a:prstGeom prst="rect">
            <a:avLst/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Sistema · CP-07, CP-08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Aplicación completa por HTTP: servidor php -S, API y archivo de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346807" y="3794760"/>
            <a:ext cx="7498079" cy="1005840"/>
          </a:xfrm>
          <a:prstGeom prst="rect">
            <a:avLst/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Integración · CP-05, CP-06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Inventario + RepositorioInventario + archivo JSON trabajando juntos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3847" y="4983480"/>
            <a:ext cx="9144000" cy="1005840"/>
          </a:xfrm>
          <a:prstGeom prst="rect">
            <a:avLst/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5A6270"/>
                </a:solidFill>
                <a:latin typeface="Calibri"/>
              </a:rPr>
              <a:t>Unitarias · CP-01 a CP-04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Clases Inventario y Producto aisladas, en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Más arriba: más cerca de lo que usa la cliente y más lento (≈ 0.9 s por caso). Más abajo: más rápido (milisegundos) y más preciso para ubicar el error.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Matriz RACI de las pruebas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Quién realiza, aprueba, es consultado o informado en cada actividad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98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371600"/>
                <a:gridCol w="1371600"/>
                <a:gridCol w="1371600"/>
                <a:gridCol w="1371600"/>
                <a:gridCol w="13716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Emily
Gestora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Chuina
Analista/QA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Pablo
Dev/DevOps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Emmanuel
Diseñador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Ana
Cliente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Redactar los requisitos funcionales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Elaborar el plan de pruebas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Diseñar los casos de prueba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Automatizar las pruebas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Ejecutar las pruebas y registrar resultados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Registrar y priorizar defectos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Corregir defectos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Repetir pruebas y regresión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Configurar el CI y la protección de ramas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Revisar los mensajes de error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Validar los escenarios de aceptación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Aprobar el Pull Request e integrar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R/A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R = Responsable (realiza la actividad) · A = Aprueba y rinde cuentas (una sola persona por actividad) · C = Consultado antes de decidir · I = Informado del resultado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Matriz de trazabilidad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Cada requisito funcional queda cubierto por dos casos de prueba o más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Requisito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CP-01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CP-02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CP-03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CP-04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CP-05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CP-06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CP-07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CP-08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CP-09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CP-10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D2330"/>
                          </a:solidFill>
                          <a:latin typeface="Calibri"/>
                        </a:rPr>
                        <a:t>RF-01 · Registrar productos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D2330"/>
                          </a:solidFill>
                          <a:latin typeface="Calibri"/>
                        </a:rPr>
                        <a:t>RF-02 · Consultar existencias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D2330"/>
                          </a:solidFill>
                          <a:latin typeface="Calibri"/>
                        </a:rPr>
                        <a:t>RF-03 · Registrar ventas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D2330"/>
                          </a:solidFill>
                          <a:latin typeface="Calibri"/>
                        </a:rPr>
                        <a:t>RF-04 · Registrar entradas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D2330"/>
                          </a:solidFill>
                          <a:latin typeface="Calibri"/>
                        </a:rPr>
                        <a:t>RF-05 · Reporte y resurtido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Unitarias: CP-01 a CP-04 · Integración: CP-05 y CP-06 · Sistema: CP-07 y CP-08 · Aceptación: CP-09 y CP-10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Porcentaje de casos aprobados por ronda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Aprobación = pruebas aprobadas / pruebas ejecutadas × 100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Ronda 1 · código actual: 10 de 10  ·  Ronda 2 · con DEF-01: 7 de 10  ·  Ronda 3 · con DEF-02: 9 de 10  ·  Ronda 4 · código corregido: 10 de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Repetición de las pruebas al corregir un defecto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Ciclo que sigue cada defecto (DEF-01, DEF-02) hasta cerrarse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5A6270"/>
                </a:solidFill>
                <a:latin typeface="Calibri"/>
              </a:rPr>
              <a:t>1. Registro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Chuina registra el defecto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con ID, caso que falló y evidencia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2628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2. Corrección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Pablo crea la rama fix/DEF-0X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desde develop y corrige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0392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3. Prueba de repetición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se ejecuta solo el caso que falló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phpunit --filter 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4. Regresión completa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el PR dispara el CI: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los 10 casos por niveles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5. Defectos inyectados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simular-defectos.php confirma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que se siguen detectando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7A4D"/>
                </a:solidFill>
                <a:latin typeface="Calibri"/>
              </a:rPr>
              <a:t>6. Cierre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Emily revisa el PR, merge a develop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y el defecto pasa a Cerrado</a:t>
            </a:r>
          </a:p>
        </p:txBody>
      </p:sp>
      <p:cxnSp>
        <p:nvCxnSpPr>
          <p:cNvPr id="9" name="Connector 8"/>
          <p:cNvCxnSpPr>
            <a:stCxn id="3" idx="3"/>
            <a:endCxn id="4" idx="1"/>
          </p:cNvCxnSpPr>
          <p:nvPr/>
        </p:nvCxnSpPr>
        <p:spPr>
          <a:xfrm flipV="1">
            <a:off x="3703320" y="224028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4" idx="3"/>
            <a:endCxn id="5" idx="1"/>
          </p:cNvCxnSpPr>
          <p:nvPr/>
        </p:nvCxnSpPr>
        <p:spPr>
          <a:xfrm flipV="1">
            <a:off x="7680960" y="224028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6" idx="0"/>
          </p:cNvCxnSpPr>
          <p:nvPr/>
        </p:nvCxnSpPr>
        <p:spPr>
          <a:xfrm flipH="1">
            <a:off x="10081260" y="3017520"/>
            <a:ext cx="0" cy="91440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1"/>
            <a:endCxn id="7" idx="3"/>
          </p:cNvCxnSpPr>
          <p:nvPr/>
        </p:nvCxnSpPr>
        <p:spPr>
          <a:xfrm flipH="1" flipV="1">
            <a:off x="7680960" y="470916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7" idx="1"/>
            <a:endCxn id="8" idx="3"/>
          </p:cNvCxnSpPr>
          <p:nvPr/>
        </p:nvCxnSpPr>
        <p:spPr>
          <a:xfrm flipH="1" flipV="1">
            <a:off x="3703320" y="470916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6355080" y="3017520"/>
            <a:ext cx="2880360" cy="914400"/>
          </a:xfrm>
          <a:prstGeom prst="line">
            <a:avLst/>
          </a:prstGeom>
          <a:ln w="28575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120640" y="34290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B42318"/>
                </a:solidFill>
                <a:latin typeface="Calibri"/>
              </a:rPr>
              <a:t>si algún caso falla, se regresa a corrección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Regresión nocturna: el CI repite la suite completa cada día a la 01:00 aunque no haya cambios.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Flujo de trabajo con integración continua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Del cambio en el código a la integración en el repositorio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14600" cy="141732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1. Cambio en el código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implementa una función o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corrige un defecto (rama fix/**)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371600"/>
            <a:ext cx="2514600" cy="141732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2. Commit y push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se registra y comparte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el cambio; se abre el PR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71600"/>
            <a:ext cx="2514600" cy="141732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3. GitHub Actions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prepara el entorno: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ubuntu, PHP 8.2 · 8.3 · 8.4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81160" y="1371600"/>
            <a:ext cx="2423160" cy="141732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4. Pruebas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unitarias, integración,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sistema, aceptación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regresión DEF</a:t>
            </a:r>
          </a:p>
        </p:txBody>
      </p:sp>
      <p:cxnSp>
        <p:nvCxnSpPr>
          <p:cNvPr id="7" name="Connector 6"/>
          <p:cNvCxnSpPr>
            <a:stCxn id="3" idx="3"/>
            <a:endCxn id="4" idx="1"/>
          </p:cNvCxnSpPr>
          <p:nvPr/>
        </p:nvCxnSpPr>
        <p:spPr>
          <a:xfrm flipV="1">
            <a:off x="2971800" y="2080260"/>
            <a:ext cx="45720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4" idx="3"/>
            <a:endCxn id="5" idx="1"/>
          </p:cNvCxnSpPr>
          <p:nvPr/>
        </p:nvCxnSpPr>
        <p:spPr>
          <a:xfrm flipV="1">
            <a:off x="5943600" y="2080260"/>
            <a:ext cx="45720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V="1">
            <a:off x="8915400" y="2080260"/>
            <a:ext cx="3657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3794760"/>
            <a:ext cx="3291840" cy="146304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7A4D"/>
                </a:solidFill>
                <a:latin typeface="Calibri"/>
              </a:rPr>
              <a:t>5A. Pruebas aprobadas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checks en verde → revisión del PR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→ merge a develop / main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41080" y="3794760"/>
            <a:ext cx="3108960" cy="1463040"/>
          </a:xfrm>
          <a:prstGeom prst="roundRect">
            <a:avLst>
              <a:gd name="adj" fmla="val 10000"/>
            </a:avLst>
          </a:prstGeom>
          <a:solidFill>
            <a:srgbClr val="FDE8E6"/>
          </a:solidFill>
          <a:ln w="254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B42318"/>
                </a:solidFill>
                <a:latin typeface="Calibri"/>
              </a:rPr>
              <a:t>5B. Pruebas fallidas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se notifica el fallo, se revisan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los logs y se corrige el código</a:t>
            </a:r>
          </a:p>
        </p:txBody>
      </p:sp>
      <p:cxnSp>
        <p:nvCxnSpPr>
          <p:cNvPr id="12" name="Connector 11"/>
          <p:cNvCxnSpPr>
            <a:stCxn id="6" idx="2"/>
            <a:endCxn id="10" idx="0"/>
          </p:cNvCxnSpPr>
          <p:nvPr/>
        </p:nvCxnSpPr>
        <p:spPr>
          <a:xfrm flipH="1">
            <a:off x="6766560" y="2788920"/>
            <a:ext cx="3726180" cy="1005840"/>
          </a:xfrm>
          <a:prstGeom prst="line">
            <a:avLst/>
          </a:prstGeom>
          <a:ln w="28575">
            <a:solidFill>
              <a:srgbClr val="1F7A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2"/>
            <a:endCxn id="11" idx="0"/>
          </p:cNvCxnSpPr>
          <p:nvPr/>
        </p:nvCxnSpPr>
        <p:spPr>
          <a:xfrm flipH="1">
            <a:off x="10195560" y="2788920"/>
            <a:ext cx="297180" cy="1005840"/>
          </a:xfrm>
          <a:prstGeom prst="line">
            <a:avLst/>
          </a:prstGeom>
          <a:ln w="28575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195560" y="5257800"/>
            <a:ext cx="0" cy="365760"/>
          </a:xfrm>
          <a:prstGeom prst="line">
            <a:avLst/>
          </a:prstGeom>
          <a:ln w="28575">
            <a:solidFill>
              <a:srgbClr val="B42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714500" y="5623560"/>
            <a:ext cx="8481060" cy="0"/>
          </a:xfrm>
          <a:prstGeom prst="line">
            <a:avLst/>
          </a:prstGeom>
          <a:ln w="28575">
            <a:solidFill>
              <a:srgbClr val="B42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14500" y="2788920"/>
            <a:ext cx="0" cy="2834640"/>
          </a:xfrm>
          <a:prstGeom prst="line">
            <a:avLst/>
          </a:prstGeom>
          <a:ln w="28575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874519" y="5212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B42318"/>
                </a:solidFill>
                <a:latin typeface="Calibri"/>
              </a:rPr>
              <a:t>el ciclo vuelve al paso 1 hasta que todo pase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989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Archivo del flujo: .github/workflows/ci.yml · se ejecuta en cada push, en cada Pull Request a main o develop y cada noche a la 01:00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Flujo de integración continua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GitHub Actions · .github/workflows/ci.yml · se ejecuta al actualizar el repositorio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Disparador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push a main, develop,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feature/**, release/**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Pull Request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cron diario 01:00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1. Unitarias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CP-01 a CP-04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PHP 8.2 · 8.3 · 8.4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2. Integración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CP-05 y CP-06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Inventario + archivo 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3. Sistema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CP-07 y CP-08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php -S + HTTP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4. Aceptación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CP-09 y CP-10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escenarios de la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5. Regresión DEF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inyecta DEF-01 y DEF-02;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las pruebas deben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detectarlos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4128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7A4D"/>
                </a:solidFill>
                <a:latin typeface="Calibri"/>
              </a:rPr>
              <a:t>PR integrable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todos los checks en verde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→ merge a develop / main</a:t>
            </a:r>
          </a:p>
        </p:txBody>
      </p:sp>
      <p:cxnSp>
        <p:nvCxnSpPr>
          <p:cNvPr id="10" name="Connector 9"/>
          <p:cNvCxnSpPr>
            <a:stCxn id="3" idx="3"/>
            <a:endCxn id="4" idx="1"/>
          </p:cNvCxnSpPr>
          <p:nvPr/>
        </p:nvCxnSpPr>
        <p:spPr>
          <a:xfrm flipV="1">
            <a:off x="184708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4" idx="3"/>
            <a:endCxn id="5" idx="1"/>
          </p:cNvCxnSpPr>
          <p:nvPr/>
        </p:nvCxnSpPr>
        <p:spPr>
          <a:xfrm flipV="1">
            <a:off x="349300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3"/>
            <a:endCxn id="6" idx="1"/>
          </p:cNvCxnSpPr>
          <p:nvPr/>
        </p:nvCxnSpPr>
        <p:spPr>
          <a:xfrm flipV="1">
            <a:off x="513892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3"/>
            <a:endCxn id="7" idx="1"/>
          </p:cNvCxnSpPr>
          <p:nvPr/>
        </p:nvCxnSpPr>
        <p:spPr>
          <a:xfrm flipV="1">
            <a:off x="678484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7" idx="3"/>
            <a:endCxn id="8" idx="1"/>
          </p:cNvCxnSpPr>
          <p:nvPr/>
        </p:nvCxnSpPr>
        <p:spPr>
          <a:xfrm flipV="1">
            <a:off x="843076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8" idx="3"/>
            <a:endCxn id="9" idx="1"/>
          </p:cNvCxnSpPr>
          <p:nvPr/>
        </p:nvCxnSpPr>
        <p:spPr>
          <a:xfrm flipV="1">
            <a:off x="1007668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5234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9826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4418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9010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52344" y="3840480"/>
            <a:ext cx="4937760" cy="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21224" y="3840480"/>
            <a:ext cx="0" cy="45720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203704" y="4315968"/>
            <a:ext cx="6035040" cy="11430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Reporte de resultados (siempre se ejecuta)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Junta los junit-*.xml de cada nivel, publica la tabla en el resumen del job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sube el artefacto «evidencia-pruebas» (reporte HTML, JSON y JUnit).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4315968"/>
            <a:ext cx="2880360" cy="1143000"/>
          </a:xfrm>
          <a:prstGeom prst="roundRect">
            <a:avLst>
              <a:gd name="adj" fmla="val 10000"/>
            </a:avLst>
          </a:prstGeom>
          <a:solidFill>
            <a:srgbClr val="FDE8E6"/>
          </a:solidFill>
          <a:ln w="254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B42318"/>
                </a:solidFill>
                <a:latin typeface="Calibri"/>
              </a:rPr>
              <a:t>Si un nivel falla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los siguientes no se ejecutan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el Pull Request se bloquea.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852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concurrency: un push nuevo en la misma rama cancela la ejecución anterior · caché de Composer por versión de PHP · protección de ramas: main y develop solo aceptan PR con todos los checks en verde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Diagramas - Segunda parte</dc:title>
  <dc:subject/>
  <dc:creator>Equipo Sistema de Inventario</dc:creator>
  <cp:keywords/>
  <dc:description/>
  <cp:lastModifiedBy>Equipo Sistema de Inventario</cp:lastModifiedBy>
  <cp:revision>1</cp:revision>
  <dcterms:created xsi:type="dcterms:W3CDTF">2026-10-31T05:14:48Z</dcterms:created>
  <dcterms:modified xsi:type="dcterms:W3CDTF">2013-01-27T09:15:58Z</dcterms:modified>
  <cp:category/>
</cp:coreProperties>
</file>